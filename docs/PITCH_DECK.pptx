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232B27"/>
                </a:solidFill>
                <a:latin typeface="微软雅黑"/>
                <a:ea typeface="微软雅黑"/>
              </a:rPr>
              <a:t>可视化 AI 导演台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F6F5B"/>
                </a:solidFill>
                <a:latin typeface="微软雅黑"/>
                <a:ea typeface="微软雅黑"/>
              </a:rPr>
              <a:t>让角色先演一遍，你来定稿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6B7770"/>
                </a:solidFill>
                <a:latin typeface="微软雅黑"/>
                <a:ea typeface="微软雅黑"/>
              </a:rPr>
              <a:t>A Visual Director's Desk for Short Drama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B7770"/>
                </a:solidFill>
                <a:latin typeface="微软雅黑"/>
                <a:ea typeface="微软雅黑"/>
              </a:rPr>
              <a:t>Let the cast play the scene out — you decide.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32B27"/>
                </a:solidFill>
                <a:latin typeface="微软雅黑"/>
                <a:ea typeface="微软雅黑"/>
              </a:rPr>
              <a:t>多个角色在同一沙盘里行动、交流、互相影响；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32B27"/>
                </a:solidFill>
                <a:latin typeface="微软雅黑"/>
                <a:ea typeface="微软雅黑"/>
              </a:rPr>
              <a:t>你观察、干预、确认，再整理成剧本与分镜草稿。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6B7770"/>
                </a:solidFill>
                <a:latin typeface="微软雅黑"/>
                <a:ea typeface="微软雅黑"/>
              </a:rPr>
              <a:t>BAYTECH 2026 ｜ AI 应用与工程赛道 ｜ 深圳河套科创中心</a:t>
            </a:r>
          </a:p>
        </p:txBody>
      </p:sp>
      <p:pic>
        <p:nvPicPr>
          <p:cNvPr id="6" name="Picture 5" descr="6ed79a6a68b454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54480"/>
            <a:ext cx="38404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5486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770"/>
                </a:solidFill>
                <a:latin typeface="微软雅黑"/>
                <a:ea typeface="微软雅黑"/>
              </a:rPr>
              <a:t>封面图由本工具现场文生图产出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2F6F5B"/>
                </a:solidFill>
                <a:latin typeface="微软雅黑"/>
                <a:ea typeface="微软雅黑"/>
              </a:rPr>
              <a:t>01  问题与场景价值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B7770"/>
                </a:solidFill>
                <a:latin typeface="微软雅黑"/>
                <a:ea typeface="微软雅黑"/>
              </a:rPr>
              <a:t>The problem, 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32B27"/>
                </a:solidFill>
                <a:latin typeface="微软雅黑"/>
                <a:ea typeface="微软雅黑"/>
              </a:rPr>
              <a:t>现有 AI 剧本工具给你一段文字，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32B27"/>
                </a:solidFill>
                <a:latin typeface="微软雅黑"/>
                <a:ea typeface="微软雅黑"/>
              </a:rPr>
              <a:t>但你看不见角色为什么这么说 —— 过程是黑盒。</a:t>
            </a:r>
          </a:p>
          <a:p>
            <a:pPr>
              <a:spcAft>
                <a:spcPts val="800"/>
              </a:spcAft>
            </a:pPr>
            <a:r>
              <a:rPr sz="600" b="0">
                <a:solidFill>
                  <a:srgbClr val="232B27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32B27"/>
                </a:solidFill>
                <a:latin typeface="微软雅黑"/>
                <a:ea typeface="微软雅黑"/>
              </a:rPr>
              <a:t>• 连续性最贵：谁知道什么、道具从哪来、第几集改了什么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32B27"/>
                </a:solidFill>
                <a:latin typeface="微软雅黑"/>
                <a:ea typeface="微软雅黑"/>
              </a:rPr>
              <a:t>• 试戏成本高：只想试一小段，却要重跑整段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32B27"/>
                </a:solidFill>
                <a:latin typeface="微软雅黑"/>
                <a:ea typeface="微软雅黑"/>
              </a:rPr>
              <a:t>• 改好的台词，下次生成就被覆盖</a:t>
            </a:r>
          </a:p>
          <a:p>
            <a:pPr>
              <a:spcAft>
                <a:spcPts val="800"/>
              </a:spcAft>
            </a:pPr>
            <a:r>
              <a:rPr sz="600" b="0">
                <a:solidFill>
                  <a:srgbClr val="232B27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6B7770"/>
                </a:solidFill>
                <a:latin typeface="微软雅黑"/>
                <a:ea typeface="微软雅黑"/>
              </a:rPr>
              <a:t>目标用户：短剧编剧、导演/制片、剧情号创作者、小型编剧工作室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32B27"/>
                </a:solidFill>
                <a:latin typeface="微软雅黑"/>
                <a:ea typeface="微软雅黑"/>
              </a:rPr>
              <a:t>AI hands you a scene, but not why.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32B27"/>
                </a:solidFill>
                <a:latin typeface="微软雅黑"/>
                <a:ea typeface="微软雅黑"/>
              </a:rPr>
              <a:t>The process is a black box.</a:t>
            </a:r>
          </a:p>
          <a:p>
            <a:pPr>
              <a:spcAft>
                <a:spcPts val="800"/>
              </a:spcAft>
            </a:pPr>
            <a:r>
              <a:rPr sz="600" b="0">
                <a:solidFill>
                  <a:srgbClr val="232B27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• Continuity is the expensive part: who knows what, and when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• Rehearsing costs a full rerun, not a single line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• Your edits get overwritten on the next generation</a:t>
            </a:r>
          </a:p>
          <a:p>
            <a:pPr>
              <a:spcAft>
                <a:spcPts val="800"/>
              </a:spcAft>
            </a:pPr>
            <a:r>
              <a:rPr sz="600" b="0">
                <a:solidFill>
                  <a:srgbClr val="232B27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6B7770"/>
                </a:solidFill>
                <a:latin typeface="微软雅黑"/>
                <a:ea typeface="微软雅黑"/>
              </a:rPr>
              <a:t>Users: short-drama writers, directors/producers, scripted short-video creators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2F6F5B"/>
                </a:solidFill>
                <a:latin typeface="微软雅黑"/>
                <a:ea typeface="微软雅黑"/>
              </a:rPr>
              <a:t>02  24 小时增量：我们做了什么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B7770"/>
                </a:solidFill>
                <a:latin typeface="微软雅黑"/>
                <a:ea typeface="微软雅黑"/>
              </a:rPr>
              <a:t>What we built in 24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F6F5B"/>
                </a:solidFill>
                <a:latin typeface="微软雅黑"/>
                <a:ea typeface="微软雅黑"/>
              </a:rPr>
              <a:t>1  看得见 Agent 怎么演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     2.5D 状态地图 + three.js 舞台；点事件看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     提议 → 检查 → 最终动作 → 状态变化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F6F5B"/>
                </a:solidFill>
                <a:latin typeface="微软雅黑"/>
                <a:ea typeface="微软雅黑"/>
              </a:rPr>
              <a:t>2  剧情事实透镜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     谁持有、谁已知、依据是什么；非法动作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     可见降级并记录原因，不静默改写、不毁整轮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F6F5B"/>
                </a:solidFill>
                <a:latin typeface="微软雅黑"/>
                <a:ea typeface="微软雅黑"/>
              </a:rPr>
              <a:t>3  作者掌控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     候选→预览→提交（幂等+版本校验）；字段锁定、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     导演指令、分支试演；没有自动提交路径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F6F5B"/>
                </a:solidFill>
                <a:latin typeface="微软雅黑"/>
                <a:ea typeface="微软雅黑"/>
              </a:rPr>
              <a:t>4  真模型 + 真素材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     角色候选由真模型生成（source=llm）；背板与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     立绘由文生图产出，带提示词/模型/时间戳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F6F5B"/>
                </a:solidFill>
                <a:latin typeface="微软雅黑"/>
                <a:ea typeface="微软雅黑"/>
              </a:rPr>
              <a:t>5  一句话生成完整开场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     模型产出剧名/区域/角色/道具/事实 + 舞台布局；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     华山→室外山景，游轮→驾驶舱，来源如实标注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F6F5B"/>
                </a:solidFill>
                <a:latin typeface="微软雅黑"/>
                <a:ea typeface="微软雅黑"/>
              </a:rPr>
              <a:t>1  See how agents act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     2.5D map + three.js stage; click to see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     proposal → fact check → final action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F6F5B"/>
                </a:solidFill>
                <a:latin typeface="微软雅黑"/>
                <a:ea typeface="微软雅黑"/>
              </a:rPr>
              <a:t>2  Fact lens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     who holds / who knows / on what evidence;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     invalid moves degrade visibly, never silently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F6F5B"/>
                </a:solidFill>
                <a:latin typeface="微软雅黑"/>
                <a:ea typeface="微软雅黑"/>
              </a:rPr>
              <a:t>3  Author stays in control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     draft → preview → commit (idempotent,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     revision-checked); locks, directives, branches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F6F5B"/>
                </a:solidFill>
                <a:latin typeface="微软雅黑"/>
                <a:ea typeface="微软雅黑"/>
              </a:rPr>
              <a:t>4  Real model, real assets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     live LLM candidates (source=llm); text-to-image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     backdrops and portraits with provenance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F6F5B"/>
                </a:solidFill>
                <a:latin typeface="微软雅黑"/>
                <a:ea typeface="微软雅黑"/>
              </a:rPr>
              <a:t>5  One line to a full opening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     title, areas, cast, props, facts + stage layout;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     mountain vs ship bridge, source labelled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2F6F5B"/>
                </a:solidFill>
                <a:latin typeface="微软雅黑"/>
                <a:ea typeface="微软雅黑"/>
              </a:rPr>
              <a:t>03  技术与边界（诚实版）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B7770"/>
                </a:solidFill>
                <a:latin typeface="微软雅黑"/>
                <a:ea typeface="微软雅黑"/>
              </a:rPr>
              <a:t>Stack and honest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F6F5B"/>
                </a:solidFill>
                <a:latin typeface="微软雅黑"/>
                <a:ea typeface="微软雅黑"/>
              </a:rPr>
              <a:t>架构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React + three.js 导演台 ｜ FastAPI 剧情内核（SQLite 版本化）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｜ 真实模型（OpenAI 兼容）+ 文生图（Seedream）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F6F5B"/>
                </a:solidFill>
                <a:latin typeface="微软雅黑"/>
                <a:ea typeface="微软雅黑"/>
              </a:rPr>
              <a:t>可切换运行模式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live（真模型）/ offline（本地确定性规则）；模式徽标常驻；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显式 live 缺密钥会拒绝启动，绝不静默降级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F6F5B"/>
                </a:solidFill>
                <a:latin typeface="微软雅黑"/>
                <a:ea typeface="微软雅黑"/>
              </a:rPr>
              <a:t>复用边界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叙事内核迁移自用户自己的旧工作区，记录源文件 sha256 与改写范围；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3D 布局参考 FeiControl（MIT），未复制其代码与资产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F6F5B"/>
                </a:solidFill>
                <a:latin typeface="微软雅黑"/>
                <a:ea typeface="微软雅黑"/>
              </a:rPr>
              <a:t>不承诺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不是一键生成整部作品；3D 未达电影级；事实判定可能漏判误判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F6F5B"/>
                </a:solidFill>
                <a:latin typeface="微软雅黑"/>
                <a:ea typeface="微软雅黑"/>
              </a:rPr>
              <a:t>Stack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React + three.js console; FastAPI narrative core with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versioned SQLite; live LLM (OpenAI-compatible) + text-to-image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F6F5B"/>
                </a:solidFill>
                <a:latin typeface="微软雅黑"/>
                <a:ea typeface="微软雅黑"/>
              </a:rPr>
              <a:t>Switchable runtime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live vs offline, with a persistent badge; explicit live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without a key refuses to start — never a silent downgrade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F6F5B"/>
                </a:solidFill>
                <a:latin typeface="微软雅黑"/>
                <a:ea typeface="微软雅黑"/>
              </a:rPr>
              <a:t>Reuse boundary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core ported from the user's own earlier workspace (sha256 recorded);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3D layout references FeiControl (MIT) without copying code/assets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F6F5B"/>
                </a:solidFill>
                <a:latin typeface="微软雅黑"/>
                <a:ea typeface="微软雅黑"/>
              </a:rPr>
              <a:t>Not claimed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not one-click full-length generation; not cinematic 3D;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fact checking is a graded advisory, not infallible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2F6F5B"/>
                </a:solidFill>
                <a:latin typeface="微软雅黑"/>
                <a:ea typeface="微软雅黑"/>
              </a:rPr>
              <a:t>04  现场演示与下一步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B7770"/>
                </a:solidFill>
                <a:latin typeface="微软雅黑"/>
                <a:ea typeface="微软雅黑"/>
              </a:rPr>
              <a:t>Live demo,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F6F5B"/>
                </a:solidFill>
                <a:latin typeface="微软雅黑"/>
                <a:ea typeface="微软雅黑"/>
              </a:rPr>
              <a:t>现场真跑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输一句想法 → 模型生成完整开场 → 确认建场景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推进一步 → 点事件看「提议→检查→结果」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→ 点道具看事实 → 改一句台词并锁定 → 加导演指令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→ 预览（正式状态不变）→ 提交 → 生成美术素材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→ 导出场次卡 / 剧本 / 分镜草稿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F6F5B"/>
                </a:solidFill>
                <a:latin typeface="微软雅黑"/>
                <a:ea typeface="微软雅黑"/>
              </a:rPr>
              <a:t>下一步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真模型长时稳定性与费用评估；image→3D 资产；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32B27"/>
                </a:solidFill>
                <a:latin typeface="微软雅黑"/>
                <a:ea typeface="微软雅黑"/>
              </a:rPr>
              <a:t>更多场景模板与多人协作</a:t>
            </a:r>
          </a:p>
          <a:p>
            <a:pPr>
              <a:spcAft>
                <a:spcPts val="800"/>
              </a:spcAft>
            </a:pPr>
            <a:r>
              <a:rPr sz="800" b="0">
                <a:solidFill>
                  <a:srgbClr val="232B27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F6F5B"/>
                </a:solidFill>
                <a:latin typeface="微软雅黑"/>
                <a:ea typeface="微软雅黑"/>
              </a:rPr>
              <a:t>一句话：把最难观察和修改的角色互动，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F6F5B"/>
                </a:solidFill>
                <a:latin typeface="微软雅黑"/>
                <a:ea typeface="微软雅黑"/>
              </a:rPr>
              <a:t>变成看得见、能干预、可追溯的工作台。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F6F5B"/>
                </a:solidFill>
                <a:latin typeface="微软雅黑"/>
                <a:ea typeface="微软雅黑"/>
              </a:rPr>
              <a:t>Live demo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create scene → step → inspect an event (proposal → check → result)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→ inspect a prop's facts → edit and lock a line → add a directive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→ preview (no state change) → commit → generate art assets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→ export scene card / script / storyboard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F6F5B"/>
                </a:solidFill>
                <a:latin typeface="微软雅黑"/>
                <a:ea typeface="微软雅黑"/>
              </a:rPr>
              <a:t>Next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long-run stability and cost of live mode; image-to-3D assets;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32B27"/>
                </a:solidFill>
                <a:latin typeface="微软雅黑"/>
                <a:ea typeface="微软雅黑"/>
              </a:rPr>
              <a:t>more scene templates and collaboration</a:t>
            </a:r>
          </a:p>
          <a:p>
            <a:pPr>
              <a:spcAft>
                <a:spcPts val="800"/>
              </a:spcAft>
            </a:pPr>
            <a:r>
              <a:rPr sz="800" b="0">
                <a:solidFill>
                  <a:srgbClr val="232B27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F6F5B"/>
                </a:solidFill>
                <a:latin typeface="微软雅黑"/>
                <a:ea typeface="微软雅黑"/>
              </a:rPr>
              <a:t>Make the hardest part of drama — how characters react to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F6F5B"/>
                </a:solidFill>
                <a:latin typeface="微软雅黑"/>
                <a:ea typeface="微软雅黑"/>
              </a:rPr>
              <a:t>each other — visible, steerable and traceable.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