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AFAFA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504.4</c:v>
                </c:pt>
                <c:pt idx="1">
                  <c:v>1000</c:v>
                </c:pt>
                <c:pt idx="2">
                  <c:v>1210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FAFAFA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8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A1A1AA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21A"/>
        </a:solidFill>
        <a:ln>
          <a:noFill/>
        </a:ln>
        <a:effectLst/>
      </c:spPr>
    </c:plotArea>
    <c:plotVisOnly val="1"/>
    <c:dispBlanksAs val="span"/>
  </c:chart>
  <c:spPr>
    <a:solidFill>
      <a:srgbClr val="1212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2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210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37760"/>
            <a:ext cx="12188952" cy="19202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86384" y="1298448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1"/>
          <p:cNvSpPr/>
          <p:nvPr/>
        </p:nvSpPr>
        <p:spPr>
          <a:xfrm>
            <a:off x="1042416" y="113385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50" kern="0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应用与工程赛道 · 黑客松路演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49808" y="181051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00" b="1" spc="-100" kern="0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让角色先演一遍，</a:t>
            </a:r>
            <a:endParaRPr lang="en-US" sz="5200" dirty="0"/>
          </a:p>
        </p:txBody>
      </p:sp>
      <p:sp>
        <p:nvSpPr>
          <p:cNvPr id="7" name="Text 3"/>
          <p:cNvSpPr/>
          <p:nvPr/>
        </p:nvSpPr>
        <p:spPr>
          <a:xfrm>
            <a:off x="749808" y="2706624"/>
            <a:ext cx="786384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431800" dist="50800" dir="2700000">
              <a:srgbClr val="F59E0B">
                <a:alpha val="34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00" b="1" spc="-100" kern="0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你来定稿。</a:t>
            </a:r>
            <a:endParaRPr lang="en-US" sz="5200" dirty="0"/>
          </a:p>
        </p:txBody>
      </p:sp>
      <p:sp>
        <p:nvSpPr>
          <p:cNvPr id="8" name="Text 4"/>
          <p:cNvSpPr/>
          <p:nvPr/>
        </p:nvSpPr>
        <p:spPr>
          <a:xfrm>
            <a:off x="777240" y="380390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spc="50" kern="0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 AI 导演台 —— 短剧创作的实时沙盘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786384" y="4443984"/>
            <a:ext cx="6858000" cy="0"/>
          </a:xfrm>
          <a:prstGeom prst="lin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4626864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A1A1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多个角色 AI 智能体在共享的 3D 世界里行动、交流、互相影响；导演实时观察、干预、确认，再把这一场戏整理成可拍的场次卡、剧本与分镜。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6144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DIRECTOR'S DESK  ·  SHORT DRAMA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>
              <a:alpha val="8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30352"/>
            <a:ext cx="10652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spc="-50" kern="0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千亿短剧市场，卡点在内容供给端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86384" y="1335024"/>
            <a:ext cx="777240" cy="411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07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创作者的三重困境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21408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38000"/>
              </a:lnSpc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黑盒生成</a:t>
            </a:r>
            <a:endParaRPr lang="en-US" sz="1700" dirty="0"/>
          </a:p>
          <a:p>
            <a:pPr algn="l" indent="0" marL="0">
              <a:lnSpc>
                <a:spcPct val="138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D4D4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给出一段对白，却不解释角色为什么这么说——作者无从判断该不该信、能不能拍。</a:t>
            </a:r>
            <a:endParaRPr lang="en-US" sz="1700" dirty="0"/>
          </a:p>
          <a:p>
            <a:pPr algn="l" marL="342900" indent="-342900">
              <a:lnSpc>
                <a:spcPct val="138000"/>
              </a:lnSpc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一致性失控</a:t>
            </a:r>
            <a:endParaRPr lang="en-US" sz="1700" dirty="0"/>
          </a:p>
          <a:p>
            <a:pPr algn="l" indent="0" marL="0">
              <a:lnSpc>
                <a:spcPct val="138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D4D4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冲突、信息差、道具归属与人物目标互相打架，没有编剧训练的人守不住一场戏的逻辑。</a:t>
            </a:r>
            <a:endParaRPr lang="en-US" sz="1700" dirty="0"/>
          </a:p>
          <a:p>
            <a:pPr algn="l" marL="342900" indent="-342900">
              <a:lnSpc>
                <a:spcPct val="138000"/>
              </a:lnSpc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修改被覆盖</a:t>
            </a:r>
            <a:endParaRPr lang="en-US" sz="17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D4D4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改好的一句台词，下一次生成可能连同已经确认的决定一起冲掉。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5431536"/>
            <a:ext cx="3657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" y="5413248"/>
            <a:ext cx="4498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分发端已经跑起来，供给端还在手工作坊。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97880" y="1700784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中国微短剧市场规模（亿元）</a:t>
            </a:r>
            <a:endParaRPr lang="en-US" sz="15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897880" y="2048256"/>
          <a:ext cx="5532120" cy="22128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8"/>
          <p:cNvSpPr/>
          <p:nvPr/>
        </p:nvSpPr>
        <p:spPr>
          <a:xfrm>
            <a:off x="5897880" y="4315968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 年首次超越同年电影票房（470 亿元）；2025 年约为同期电影票房 518 亿元的近两倍。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97880" y="4828032"/>
            <a:ext cx="5532120" cy="0"/>
          </a:xfrm>
          <a:prstGeom prst="lin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4974336"/>
            <a:ext cx="2651760" cy="512064"/>
          </a:xfrm>
          <a:prstGeom prst="rect">
            <a:avLst/>
          </a:prstGeom>
          <a:noFill/>
          <a:ln/>
          <a:effectLst>
            <a:outerShdw sx="100000" sy="100000" kx="0" ky="0" algn="bl" rotWithShape="0" blurRad="304800" dist="50800" dir="2700000">
              <a:srgbClr val="F59E0B">
                <a:alpha val="2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100" kern="0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+126%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5897880" y="5522976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A1A1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 年海外短剧应用内购收入同比增速，规模达 20.6 亿美元、下载 21.5 亿次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759952" y="4992624"/>
            <a:ext cx="0" cy="1152144"/>
          </a:xfrm>
          <a:prstGeom prst="lin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15984" y="4974336"/>
            <a:ext cx="2414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100" kern="0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20:1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9015984" y="5522976"/>
            <a:ext cx="24140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A1A1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微短剧剧本供需比：2025 年参与剧本创作的人员已超 10 万人，仍供不应求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77240" y="6382512"/>
            <a:ext cx="10652760" cy="0"/>
          </a:xfrm>
          <a:prstGeom prst="lin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6437376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数据来源：中国网络视听协会《中国微短剧行业发展白皮书（2024）》、DataEye《2025 年微短剧行业数据报告》及 2026 年预估、国家广播电视总局、央视网《2025 微短剧行业生态洞察报告》、Appfigures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>
              <a:alpha val="8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30352"/>
            <a:ext cx="10652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spc="-50" kern="0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不是替你写完，而是让这场戏先演一遍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86384" y="1335024"/>
            <a:ext cx="777240" cy="411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19072"/>
            <a:ext cx="475488" cy="365760"/>
          </a:xfrm>
          <a:prstGeom prst="roundRect">
            <a:avLst>
              <a:gd name="adj" fmla="val 20000"/>
            </a:avLst>
          </a:prstGeom>
          <a:solidFill>
            <a:srgbClr val="1A1A24">
              <a:alpha val="65000"/>
            </a:srgbClr>
          </a:solidFill>
          <a:ln w="12700">
            <a:solidFill>
              <a:srgbClr val="F59E0B">
                <a:alpha val="3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26464" y="1700784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一句话开场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26464" y="2048256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A1A1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输入一个想法，自动生成剧名、角色（公开目标／隐藏目标／秘密）、道具、事实，以及舞台布局、配色与区域坐标。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77240" y="2651760"/>
            <a:ext cx="475488" cy="365760"/>
          </a:xfrm>
          <a:prstGeom prst="roundRect">
            <a:avLst>
              <a:gd name="adj" fmla="val 20000"/>
            </a:avLst>
          </a:prstGeom>
          <a:solidFill>
            <a:srgbClr val="1A1A24">
              <a:alpha val="65000"/>
            </a:srgbClr>
          </a:solidFill>
          <a:ln w="12700">
            <a:solidFill>
              <a:srgbClr val="F59E0B">
                <a:alpha val="3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51760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26464" y="263347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多智能体独立决策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26464" y="298094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A1A1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每个角色是一个独立智能体，只看到自己该看到的信息，各自提出下一步动作与对白——不是轮流念台词。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3584448"/>
            <a:ext cx="475488" cy="365760"/>
          </a:xfrm>
          <a:prstGeom prst="roundRect">
            <a:avLst>
              <a:gd name="adj" fmla="val 20000"/>
            </a:avLst>
          </a:prstGeom>
          <a:solidFill>
            <a:srgbClr val="1A1A24">
              <a:alpha val="65000"/>
            </a:srgbClr>
          </a:solidFill>
          <a:ln w="12700">
            <a:solidFill>
              <a:srgbClr val="F59E0B">
                <a:alpha val="3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84448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26464" y="356616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契约与五个节拍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26464" y="391363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A1A1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每场戏有一份契约：主角、对手、失败代价、必须发生的变化；拆成 5 个节拍，由作者手动推进，系统绝不自动跳拍。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77240" y="4517136"/>
            <a:ext cx="475488" cy="365760"/>
          </a:xfrm>
          <a:prstGeom prst="roundRect">
            <a:avLst>
              <a:gd name="adj" fmla="val 20000"/>
            </a:avLst>
          </a:prstGeom>
          <a:solidFill>
            <a:srgbClr val="1A1A24">
              <a:alpha val="65000"/>
            </a:srgbClr>
          </a:solidFill>
          <a:ln w="12700">
            <a:solidFill>
              <a:srgbClr val="F59E0B">
                <a:alpha val="3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517136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26464" y="449884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八项剧情检查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26464" y="48463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A1A1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冲突、推进、信息变化、因果、压力升级、人物主动性、可拍性、结尾准备——逐项给出通过／偏弱／未发生与依据。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77240" y="5449824"/>
            <a:ext cx="475488" cy="365760"/>
          </a:xfrm>
          <a:prstGeom prst="roundRect">
            <a:avLst>
              <a:gd name="adj" fmla="val 20000"/>
            </a:avLst>
          </a:prstGeom>
          <a:solidFill>
            <a:srgbClr val="1A1A24">
              <a:alpha val="65000"/>
            </a:srgbClr>
          </a:solidFill>
          <a:ln w="12700">
            <a:solidFill>
              <a:srgbClr val="F59E0B">
                <a:alpha val="3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44982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26464" y="543153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3D 舞台显现与定稿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426464" y="577900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A1A1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走位、说话气泡、对话连线全部由真实事件驱动；确认后一键整理成场次卡、剧本与分镜，逐镜可回溯到来源事件。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357616" y="1645920"/>
            <a:ext cx="3127248" cy="4626864"/>
          </a:xfrm>
          <a:prstGeom prst="roundRect">
            <a:avLst>
              <a:gd name="adj" fmla="val 4971"/>
            </a:avLst>
          </a:prstGeom>
          <a:solidFill>
            <a:srgbClr val="1A1A24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279400" dist="63500" dir="5400000">
              <a:srgbClr val="000000">
                <a:alpha val="40000"/>
              </a:srgbClr>
            </a:outerShdw>
          </a:effectLst>
        </p:spPr>
      </p:sp>
      <p:pic>
        <p:nvPicPr>
          <p:cNvPr id="26" name="Image 0" descr="D:\Deepseek harness workplace\short-drama-director\PPT\20260920\AI导演台投资人路演PPT\work\images\ai_p3_stage.png">    </p:cNvPr>
          <p:cNvPicPr>
            <a:picLocks noChangeAspect="1"/>
          </p:cNvPicPr>
          <p:nvPr/>
        </p:nvPicPr>
        <p:blipFill>
          <a:blip r:embed="rId2"/>
          <a:srcRect l="102" r="102" t="0" b="0"/>
          <a:stretch/>
        </p:blipFill>
        <p:spPr>
          <a:xfrm>
            <a:off x="8430768" y="1719072"/>
            <a:ext cx="2980944" cy="4480560"/>
          </a:xfrm>
          <a:prstGeom prst="rect">
            <a:avLst/>
          </a:prstGeom>
        </p:spPr>
      </p:pic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5358384"/>
            <a:ext cx="2980944" cy="84124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595360" y="5541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 3D 舞台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8595360" y="58155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程序化布景 · 角色行走 · 对话气泡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>
              <a:alpha val="8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30352"/>
            <a:ext cx="10652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-50" kern="0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护城河：把不可见的创作过程，变成可审计的工程系统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86384" y="1335024"/>
            <a:ext cx="777240" cy="411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19656"/>
            <a:ext cx="9144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1700784"/>
            <a:ext cx="4727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剧情结构层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33272" y="2084832"/>
            <a:ext cx="4727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450" dirty="0">
                <a:solidFill>
                  <a:srgbClr val="A1A1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纯符号实体状态机做事实裁决：道具的持有者与所在地点互斥、状态可销毁，角色无法披露自己不知道的事实。规则可复现，不依赖模型自觉。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82512" y="1819656"/>
            <a:ext cx="9144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638544" y="1700784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作者控制链路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38544" y="2084832"/>
            <a:ext cx="4791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450" dirty="0">
                <a:solidFill>
                  <a:srgbClr val="A1A1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预览在副本上裁决，锁定保护已确认字段，分支从任意版本 fork 完整快照；提交需经预览、幂等键与乐观锁三重校验——改一处不会冲掉别的决定。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77240" y="3941064"/>
            <a:ext cx="9144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033272" y="3822192"/>
            <a:ext cx="4727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来源诚实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33272" y="4206240"/>
            <a:ext cx="4727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450" dirty="0">
                <a:solidFill>
                  <a:srgbClr val="A1A1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每一次生成都标注来源：真实模型／离线规则／内置模板／确定性渲染。声明用模型却缺密钥时拒绝启动，绝不把规则演示伪装成模型结果。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382512" y="3941064"/>
            <a:ext cx="9144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638544" y="3822192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一句话到一座舞台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38544" y="4206240"/>
            <a:ext cx="4791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450" dirty="0">
                <a:solidFill>
                  <a:srgbClr val="A1A1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程序化零件库覆盖室内、街景、载具、矿洞、室外五种形态；场景配置驱动布景、配色、区域坐标与相机预设，新增题材无需改一行渲染代码。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08192" y="1755648"/>
            <a:ext cx="0" cy="3785616"/>
          </a:xfrm>
          <a:prstGeom prst="line">
            <a:avLst/>
          </a:prstGeom>
          <a:noFill/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675888"/>
            <a:ext cx="10652760" cy="0"/>
          </a:xfrm>
          <a:prstGeom prst="line">
            <a:avLst/>
          </a:prstGeom>
          <a:noFill/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797296"/>
            <a:ext cx="10652760" cy="749808"/>
          </a:xfrm>
          <a:prstGeom prst="roundRect">
            <a:avLst>
              <a:gd name="adj" fmla="val 13415"/>
            </a:avLst>
          </a:prstGeom>
          <a:solidFill>
            <a:srgbClr val="1A1A24">
              <a:alpha val="5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58704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-50" kern="0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94 项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51560" y="6217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后端自动化测试全部通过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02736" y="58704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-50" kern="0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4.8 秒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3602736" y="6217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真实模型生成 3 个角色候选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56432" y="5943600"/>
            <a:ext cx="0" cy="457200"/>
          </a:xfrm>
          <a:prstGeom prst="line">
            <a:avLst/>
          </a:prstGeom>
          <a:noFill/>
          <a:ln w="12700">
            <a:solidFill>
              <a:srgbClr val="FFFFFF">
                <a:alpha val="11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3912" y="58704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-50" kern="0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20+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153912" y="6217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程序化 3D 零件，零外部模型依赖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07608" y="5943600"/>
            <a:ext cx="0" cy="457200"/>
          </a:xfrm>
          <a:prstGeom prst="line">
            <a:avLst/>
          </a:prstGeom>
          <a:noFill/>
          <a:ln w="12700">
            <a:solidFill>
              <a:srgbClr val="FFFFFF">
                <a:alpha val="11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05088" y="58704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-50" kern="0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份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8705088" y="6217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可拍输出：场次卡／剧本／分镜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58784" y="5943600"/>
            <a:ext cx="0" cy="457200"/>
          </a:xfrm>
          <a:prstGeom prst="line">
            <a:avLst/>
          </a:prstGeom>
          <a:noFill/>
          <a:ln w="12700">
            <a:solidFill>
              <a:srgbClr val="FFFFFF">
                <a:alpha val="11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>
              <a:alpha val="8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30352"/>
            <a:ext cx="10652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从创作工具，到短剧的实时生产管线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86384" y="1335024"/>
            <a:ext cx="777240" cy="411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商业化路径 · 规划中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29968"/>
            <a:ext cx="4983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30000"/>
              </a:lnSpc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创作者订阅</a:t>
            </a:r>
            <a:endParaRPr lang="en-US" sz="1600" dirty="0"/>
          </a:p>
          <a:p>
            <a:pPr algn="l" indent="0" marL="0">
              <a:lnSpc>
                <a:spcPct val="130000"/>
              </a:lnSpc>
              <a:spcAft>
                <a:spcPts val="1100"/>
              </a:spcAft>
              <a:buNone/>
            </a:pPr>
            <a:r>
              <a:rPr lang="en-US" sz="1400" dirty="0">
                <a:solidFill>
                  <a:srgbClr val="A1A1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按席位与生成额度收费，面向短剧编剧、MCN 内容团队与网文改编方。</a:t>
            </a:r>
            <a:endParaRPr lang="en-US" sz="1600" dirty="0"/>
          </a:p>
          <a:p>
            <a:pPr algn="l" marL="342900" indent="-342900">
              <a:lnSpc>
                <a:spcPct val="130000"/>
              </a:lnSpc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制作方管线</a:t>
            </a:r>
            <a:endParaRPr lang="en-US" sz="1600" dirty="0"/>
          </a:p>
          <a:p>
            <a:pPr algn="l" indent="0" marL="0">
              <a:lnSpc>
                <a:spcPct val="130000"/>
              </a:lnSpc>
              <a:spcAft>
                <a:spcPts val="1100"/>
              </a:spcAft>
              <a:buNone/>
            </a:pPr>
            <a:r>
              <a:rPr lang="en-US" sz="1400" dirty="0">
                <a:solidFill>
                  <a:srgbClr val="A1A1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把场次卡、剧本、分镜接进既有拍摄流程，按项目授权与集数计费。</a:t>
            </a:r>
            <a:endParaRPr lang="en-US" sz="1600" dirty="0"/>
          </a:p>
          <a:p>
            <a:pPr algn="l" marL="342900" indent="-342900">
              <a:lnSpc>
                <a:spcPct val="130000"/>
              </a:lnSpc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平台侧能力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1A1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为短剧平台与出海应用提供剧本预审、结构化生产与素材溯源工具。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82512" y="1664208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当前已完成 · 可现场验证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82512" y="2029968"/>
            <a:ext cx="50474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30000"/>
              </a:lnSpc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端到端真实闭环</a:t>
            </a:r>
            <a:endParaRPr lang="en-US" sz="1600" dirty="0"/>
          </a:p>
          <a:p>
            <a:pPr algn="l" indent="0" marL="0">
              <a:lnSpc>
                <a:spcPct val="130000"/>
              </a:lnSpc>
              <a:spcAft>
                <a:spcPts val="1100"/>
              </a:spcAft>
              <a:buNone/>
            </a:pPr>
            <a:r>
              <a:rPr lang="en-US" sz="1400" dirty="0">
                <a:solidFill>
                  <a:srgbClr val="A1A1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一句话开场 → 多轮试演 → 干预锁定 → 提交 → 节拍推进 → 回放 → 三份可拍输出。</a:t>
            </a:r>
            <a:endParaRPr lang="en-US" sz="1600" dirty="0"/>
          </a:p>
          <a:p>
            <a:pPr algn="l" marL="342900" indent="-342900">
              <a:lnSpc>
                <a:spcPct val="130000"/>
              </a:lnSpc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真实模型联调通过</a:t>
            </a:r>
            <a:endParaRPr lang="en-US" sz="1600" dirty="0"/>
          </a:p>
          <a:p>
            <a:pPr algn="l" indent="0" marL="0">
              <a:lnSpc>
                <a:spcPct val="130000"/>
              </a:lnSpc>
              <a:spcAft>
                <a:spcPts val="1100"/>
              </a:spcAft>
              <a:buNone/>
            </a:pPr>
            <a:r>
              <a:rPr lang="en-US" sz="1400" dirty="0">
                <a:solidFill>
                  <a:srgbClr val="A1A1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预览不改正式状态，提交后版本递增，同一幂等键重复提交结果一致。</a:t>
            </a:r>
            <a:endParaRPr lang="en-US" sz="1600" dirty="0"/>
          </a:p>
          <a:p>
            <a:pPr algn="l" marL="342900" indent="-342900">
              <a:lnSpc>
                <a:spcPct val="130000"/>
              </a:lnSpc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素材层实跑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1A1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场景背板与角色立绘由文生图产出，逐张记录提示词、模型、尺寸与哈希。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08192" y="1700784"/>
            <a:ext cx="0" cy="2395728"/>
          </a:xfrm>
          <a:prstGeom prst="line">
            <a:avLst/>
          </a:prstGeom>
          <a:noFill/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4224528"/>
            <a:ext cx="10652760" cy="0"/>
          </a:xfrm>
          <a:prstGeom prst="lin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3525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71600" y="5010912"/>
            <a:ext cx="9464040" cy="0"/>
          </a:xfrm>
          <a:prstGeom prst="line">
            <a:avLst/>
          </a:prstGeom>
          <a:noFill/>
          <a:ln w="25400">
            <a:solidFill>
              <a:srgbClr val="2626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61872" y="4901184"/>
            <a:ext cx="219456" cy="21945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0A0A0F"/>
            </a:solidFill>
            <a:prstDash val="solid"/>
          </a:ln>
          <a:effectLst>
            <a:outerShdw sx="100000" sy="100000" kx="0" ky="0" algn="bl" rotWithShape="0" blurRad="203200" dist="50800" dir="2700000">
              <a:srgbClr val="F59E0B">
                <a:alpha val="4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" y="52303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4D4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真实模型长时稳定性与成本评估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416552" y="4901184"/>
            <a:ext cx="219456" cy="21945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0A0A0F"/>
            </a:solidFill>
            <a:prstDash val="solid"/>
          </a:ln>
          <a:effectLst>
            <a:outerShdw sx="100000" sy="100000" kx="0" ky="0" algn="bl" rotWithShape="0" blurRad="203200" dist="50800" dir="2700000">
              <a:srgbClr val="F59E0B">
                <a:alpha val="4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27832" y="52303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4D4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更多题材的场景配置与可行走路线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571232" y="4901184"/>
            <a:ext cx="219456" cy="21945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0A0A0F"/>
            </a:solidFill>
            <a:prstDash val="solid"/>
          </a:ln>
          <a:effectLst>
            <a:outerShdw sx="100000" sy="100000" kx="0" ky="0" algn="bl" rotWithShape="0" blurRad="203200" dist="50800" dir="2700000">
              <a:srgbClr val="F59E0B">
                <a:alpha val="4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82512" y="52303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4D4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image-to-3D 资产管线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0725912" y="4901184"/>
            <a:ext cx="219456" cy="21945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0A0A0F"/>
            </a:solidFill>
            <a:prstDash val="solid"/>
          </a:ln>
          <a:effectLst>
            <a:outerShdw sx="100000" sy="100000" kx="0" ky="0" algn="bl" rotWithShape="0" blurRad="203200" dist="50800" dir="2700000">
              <a:srgbClr val="F59E0B">
                <a:alpha val="4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537192" y="52303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4D4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多人协作与团队工作流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77240" y="5943600"/>
            <a:ext cx="41148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590702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把最难观察、最难修改的角色互动，变成看得见、能干预、可追溯的工作台。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354312" y="1280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千问AI生成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微软雅黑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微软雅黑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可视化 AI 导演台 · 投资人路演</dc:title>
  <dc:subject>PptxGenJS Presentation</dc:subject>
  <dc:creator>可视化 AI 导演台</dc:creator>
  <cp:lastModifiedBy>可视化 AI 导演台</cp:lastModifiedBy>
  <cp:revision>1</cp:revision>
  <dcterms:created xsi:type="dcterms:W3CDTF">2026-09-20T07:13:47Z</dcterms:created>
  <dcterms:modified xsi:type="dcterms:W3CDTF">2026-09-20T07:13:47Z</dcterms:modified>
</cp:coreProperties>
</file>