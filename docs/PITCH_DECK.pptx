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6583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1">
                <a:solidFill>
                  <a:srgbClr val="232B27"/>
                </a:solidFill>
                <a:latin typeface="微软雅黑"/>
                <a:ea typeface="微软雅黑"/>
              </a:rPr>
              <a:t>可视化 AI 导演台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2F6F5B"/>
                </a:solidFill>
                <a:latin typeface="微软雅黑"/>
                <a:ea typeface="微软雅黑"/>
              </a:rPr>
              <a:t>让角色先演一遍，你来定稿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6583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6B7770"/>
                </a:solidFill>
                <a:latin typeface="微软雅黑"/>
                <a:ea typeface="微软雅黑"/>
              </a:rPr>
              <a:t>A Visual Director's Desk for Short Drama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B7770"/>
                </a:solidFill>
                <a:latin typeface="微软雅黑"/>
                <a:ea typeface="微软雅黑"/>
              </a:rPr>
              <a:t>Let the cast play the scene out — you decide.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6583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32B27"/>
                </a:solidFill>
                <a:latin typeface="微软雅黑"/>
                <a:ea typeface="微软雅黑"/>
              </a:rPr>
              <a:t>多个角色在同一沙盘里行动、交流、互相影响；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32B27"/>
                </a:solidFill>
                <a:latin typeface="微软雅黑"/>
                <a:ea typeface="微软雅黑"/>
              </a:rPr>
              <a:t>你观察、干预、确认，再整理成剧本与分镜草稿。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B7770"/>
                </a:solidFill>
                <a:latin typeface="微软雅黑"/>
                <a:ea typeface="微软雅黑"/>
              </a:rPr>
              <a:t>BAYTECH 2026 ｜ AI 应用与工程赛道 ｜ 深圳河套科创中心</a:t>
            </a:r>
          </a:p>
        </p:txBody>
      </p:sp>
      <p:pic>
        <p:nvPicPr>
          <p:cNvPr id="6" name="Picture 5" descr="79b62ef118c512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554480"/>
            <a:ext cx="3840480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54864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6B7770"/>
                </a:solidFill>
                <a:latin typeface="微软雅黑"/>
                <a:ea typeface="微软雅黑"/>
              </a:rPr>
              <a:t>封面图由本工具现场文生图产出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2F6F5B"/>
                </a:solidFill>
                <a:latin typeface="微软雅黑"/>
                <a:ea typeface="微软雅黑"/>
              </a:rPr>
              <a:t>01  问题与场景价值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B7770"/>
                </a:solidFill>
                <a:latin typeface="微软雅黑"/>
                <a:ea typeface="微软雅黑"/>
              </a:rPr>
              <a:t>The problem, and 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32B27"/>
                </a:solidFill>
                <a:latin typeface="微软雅黑"/>
                <a:ea typeface="微软雅黑"/>
              </a:rPr>
              <a:t>现有 AI 剧本工具给你一段文字，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32B27"/>
                </a:solidFill>
                <a:latin typeface="微软雅黑"/>
                <a:ea typeface="微软雅黑"/>
              </a:rPr>
              <a:t>但你看不见角色为什么这么说 —— 过程是黑盒。</a:t>
            </a:r>
          </a:p>
          <a:p>
            <a:pPr>
              <a:spcAft>
                <a:spcPts val="800"/>
              </a:spcAft>
            </a:pPr>
            <a:r>
              <a:rPr sz="600" b="0">
                <a:solidFill>
                  <a:srgbClr val="232B27"/>
                </a:solidFill>
                <a:latin typeface="微软雅黑"/>
                <a:ea typeface="微软雅黑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32B27"/>
                </a:solidFill>
                <a:latin typeface="微软雅黑"/>
                <a:ea typeface="微软雅黑"/>
              </a:rPr>
              <a:t>• 连续性最贵：谁知道什么、道具从哪来、第几集改了什么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32B27"/>
                </a:solidFill>
                <a:latin typeface="微软雅黑"/>
                <a:ea typeface="微软雅黑"/>
              </a:rPr>
              <a:t>• 试戏成本高：只想试一小段，却要重跑整段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32B27"/>
                </a:solidFill>
                <a:latin typeface="微软雅黑"/>
                <a:ea typeface="微软雅黑"/>
              </a:rPr>
              <a:t>• 改好的台词，下次生成就被覆盖</a:t>
            </a:r>
          </a:p>
          <a:p>
            <a:pPr>
              <a:spcAft>
                <a:spcPts val="800"/>
              </a:spcAft>
            </a:pPr>
            <a:r>
              <a:rPr sz="600" b="0">
                <a:solidFill>
                  <a:srgbClr val="232B27"/>
                </a:solidFill>
                <a:latin typeface="微软雅黑"/>
                <a:ea typeface="微软雅黑"/>
              </a:rPr>
              <a:t/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B7770"/>
                </a:solidFill>
                <a:latin typeface="微软雅黑"/>
                <a:ea typeface="微软雅黑"/>
              </a:rPr>
              <a:t>目标用户：短剧编剧、导演/制片、剧情号创作者、小型编剧工作室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32B27"/>
                </a:solidFill>
                <a:latin typeface="微软雅黑"/>
                <a:ea typeface="微软雅黑"/>
              </a:rPr>
              <a:t>AI hands you a scene, but not why.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32B27"/>
                </a:solidFill>
                <a:latin typeface="微软雅黑"/>
                <a:ea typeface="微软雅黑"/>
              </a:rPr>
              <a:t>The process is a black box.</a:t>
            </a:r>
          </a:p>
          <a:p>
            <a:pPr>
              <a:spcAft>
                <a:spcPts val="800"/>
              </a:spcAft>
            </a:pPr>
            <a:r>
              <a:rPr sz="600" b="0">
                <a:solidFill>
                  <a:srgbClr val="232B27"/>
                </a:solidFill>
                <a:latin typeface="微软雅黑"/>
                <a:ea typeface="微软雅黑"/>
              </a:rPr>
              <a:t/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• Continuity is the expensive part: who knows what, and when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• Rehearsing costs a full rerun, not a single line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• Your edits get overwritten on the next generation</a:t>
            </a:r>
          </a:p>
          <a:p>
            <a:pPr>
              <a:spcAft>
                <a:spcPts val="800"/>
              </a:spcAft>
            </a:pPr>
            <a:r>
              <a:rPr sz="600" b="0">
                <a:solidFill>
                  <a:srgbClr val="232B27"/>
                </a:solidFill>
                <a:latin typeface="微软雅黑"/>
                <a:ea typeface="微软雅黑"/>
              </a:rPr>
              <a:t/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6B7770"/>
                </a:solidFill>
                <a:latin typeface="微软雅黑"/>
                <a:ea typeface="微软雅黑"/>
              </a:rPr>
              <a:t>Users: short-drama writers, directors/producers, scripted short-video creators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2F6F5B"/>
                </a:solidFill>
                <a:latin typeface="微软雅黑"/>
                <a:ea typeface="微软雅黑"/>
              </a:rPr>
              <a:t>02  24 小时增量：我们做了什么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B7770"/>
                </a:solidFill>
                <a:latin typeface="微软雅黑"/>
                <a:ea typeface="微软雅黑"/>
              </a:rPr>
              <a:t>What we built in 24 hours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F6F5B"/>
                </a:solidFill>
                <a:latin typeface="微软雅黑"/>
                <a:ea typeface="微软雅黑"/>
              </a:rPr>
              <a:t>1  剧情结构层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232B27"/>
                </a:solidFill>
                <a:latin typeface="微软雅黑"/>
                <a:ea typeface="微软雅黑"/>
              </a:rPr>
              <a:t>     本场契约 + 5 个剧情节拍 + 8 项剧情检查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232B27"/>
                </a:solidFill>
                <a:latin typeface="微软雅黑"/>
                <a:ea typeface="微软雅黑"/>
              </a:rPr>
              <a:t>     把轮流说话变成有冲突有收尾的一场戏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F6F5B"/>
                </a:solidFill>
                <a:latin typeface="微软雅黑"/>
                <a:ea typeface="微软雅黑"/>
              </a:rPr>
              <a:t>2  看得见 Agent 怎么演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232B27"/>
                </a:solidFill>
                <a:latin typeface="微软雅黑"/>
                <a:ea typeface="微软雅黑"/>
              </a:rPr>
              <a:t>     点事件看 提议→检查→最终→状态变化；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232B27"/>
                </a:solidFill>
                <a:latin typeface="微软雅黑"/>
                <a:ea typeface="微软雅黑"/>
              </a:rPr>
              <a:t>     说话人/指向线/被对话人三者同时高亮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F6F5B"/>
                </a:solidFill>
                <a:latin typeface="微软雅黑"/>
                <a:ea typeface="微软雅黑"/>
              </a:rPr>
              <a:t>3  作者掌控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232B27"/>
                </a:solidFill>
                <a:latin typeface="微软雅黑"/>
                <a:ea typeface="微软雅黑"/>
              </a:rPr>
              <a:t>     预览→锁定→提交（幂等+版本校验）；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232B27"/>
                </a:solidFill>
                <a:latin typeface="微软雅黑"/>
                <a:ea typeface="微软雅黑"/>
              </a:rPr>
              <a:t>     节拍由作者推进，没有自动提交路径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F6F5B"/>
                </a:solidFill>
                <a:latin typeface="微软雅黑"/>
                <a:ea typeface="微软雅黑"/>
              </a:rPr>
              <a:t>4  真模型 + 真素材（来源如实标注）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232B27"/>
                </a:solidFill>
                <a:latin typeface="微软雅黑"/>
                <a:ea typeface="微软雅黑"/>
              </a:rPr>
              <a:t>     候选 source=llm；图片带提示词与时间戳；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232B27"/>
                </a:solidFill>
                <a:latin typeface="微软雅黑"/>
                <a:ea typeface="微软雅黑"/>
              </a:rPr>
              <a:t>     检查=规则、输出=确定性/润色 均写明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F6F5B"/>
                </a:solidFill>
                <a:latin typeface="微软雅黑"/>
                <a:ea typeface="微软雅黑"/>
              </a:rPr>
              <a:t>5  一句话 → 完整开场 + 舞台布局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232B27"/>
                </a:solidFill>
                <a:latin typeface="微软雅黑"/>
                <a:ea typeface="微软雅黑"/>
              </a:rPr>
              <a:t>     华山→室外山景，矿洞→岩壁矿车，游轮→驾驶台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2F6F5B"/>
                </a:solidFill>
                <a:latin typeface="微软雅黑"/>
                <a:ea typeface="微软雅黑"/>
              </a:rPr>
              <a:t>1  Dramatic structure layer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232B27"/>
                </a:solidFill>
                <a:latin typeface="微软雅黑"/>
                <a:ea typeface="微软雅黑"/>
              </a:rPr>
              <a:t>     scene contract + 5 beats + 8 dramatic checks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2F6F5B"/>
                </a:solidFill>
                <a:latin typeface="微软雅黑"/>
                <a:ea typeface="微软雅黑"/>
              </a:rPr>
              <a:t>2  See how agents act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232B27"/>
                </a:solidFill>
                <a:latin typeface="微软雅黑"/>
                <a:ea typeface="微软雅黑"/>
              </a:rPr>
              <a:t>     click an event: proposal → check → final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232B27"/>
                </a:solidFill>
                <a:latin typeface="微软雅黑"/>
                <a:ea typeface="微软雅黑"/>
              </a:rPr>
              <a:t>     speaker, talk line and addressee all highlight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2F6F5B"/>
                </a:solidFill>
                <a:latin typeface="微软雅黑"/>
                <a:ea typeface="微软雅黑"/>
              </a:rPr>
              <a:t>3  The author stays in control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232B27"/>
                </a:solidFill>
                <a:latin typeface="微软雅黑"/>
                <a:ea typeface="微软雅黑"/>
              </a:rPr>
              <a:t>     preview → lock → commit; beats advance only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232B27"/>
                </a:solidFill>
                <a:latin typeface="微软雅黑"/>
                <a:ea typeface="微软雅黑"/>
              </a:rPr>
              <a:t>     when the author says so; no auto-commit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2F6F5B"/>
                </a:solidFill>
                <a:latin typeface="微软雅黑"/>
                <a:ea typeface="微软雅黑"/>
              </a:rPr>
              <a:t>4  Real model, real assets, honest labels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232B27"/>
                </a:solidFill>
                <a:latin typeface="微软雅黑"/>
                <a:ea typeface="微软雅黑"/>
              </a:rPr>
              <a:t>     candidates source=llm; images with prompts/time;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232B27"/>
                </a:solidFill>
                <a:latin typeface="微软雅黑"/>
                <a:ea typeface="微软雅黑"/>
              </a:rPr>
              <a:t>     checks = rules; outputs labelled deterministic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2F6F5B"/>
                </a:solidFill>
                <a:latin typeface="微软雅黑"/>
                <a:ea typeface="微软雅黑"/>
              </a:rPr>
              <a:t>5  One line → opening + stage layout</a:t>
            </a:r>
          </a:p>
          <a:p>
            <a:pPr>
              <a:spcAft>
                <a:spcPts val="800"/>
              </a:spcAft>
            </a:pPr>
            <a:r>
              <a:rPr sz="1050" b="0">
                <a:solidFill>
                  <a:srgbClr val="232B27"/>
                </a:solidFill>
                <a:latin typeface="微软雅黑"/>
                <a:ea typeface="微软雅黑"/>
              </a:rPr>
              <a:t>     mountain / mine / ship bridge adapt per genre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2F6F5B"/>
                </a:solidFill>
                <a:latin typeface="微软雅黑"/>
                <a:ea typeface="微软雅黑"/>
              </a:rPr>
              <a:t>03  技术与边界（诚实版）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B7770"/>
                </a:solidFill>
                <a:latin typeface="微软雅黑"/>
                <a:ea typeface="微软雅黑"/>
              </a:rPr>
              <a:t>Stack and honest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F6F5B"/>
                </a:solidFill>
                <a:latin typeface="微软雅黑"/>
                <a:ea typeface="微软雅黑"/>
              </a:rPr>
              <a:t>架构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React + three.js 导演台 ｜ FastAPI 剧情内核（SQLite 版本化）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｜ 真实模型（OpenAI 兼容）+ 文生图（Seedream）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F6F5B"/>
                </a:solidFill>
                <a:latin typeface="微软雅黑"/>
                <a:ea typeface="微软雅黑"/>
              </a:rPr>
              <a:t>可切换运行模式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live（真模型）/ offline（本地确定性规则）；模式徽标常驻；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显式 live 缺密钥会拒绝启动，绝不静默降级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F6F5B"/>
                </a:solidFill>
                <a:latin typeface="微软雅黑"/>
                <a:ea typeface="微软雅黑"/>
              </a:rPr>
              <a:t>复用边界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叙事内核迁移自用户自己的旧工作区，记录源文件 sha256 与改写范围；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3D 布局参考 FeiControl（MIT），未复制其代码与资产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F6F5B"/>
                </a:solidFill>
                <a:latin typeface="微软雅黑"/>
                <a:ea typeface="微软雅黑"/>
              </a:rPr>
              <a:t>不承诺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不是一键生成整部作品；3D 未达电影级；事实判定可能漏判误判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2F6F5B"/>
                </a:solidFill>
                <a:latin typeface="微软雅黑"/>
                <a:ea typeface="微软雅黑"/>
              </a:rPr>
              <a:t>Stack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React + three.js console; FastAPI narrative core with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versioned SQLite; live LLM (OpenAI-compatible) + text-to-image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F6F5B"/>
                </a:solidFill>
                <a:latin typeface="微软雅黑"/>
                <a:ea typeface="微软雅黑"/>
              </a:rPr>
              <a:t>Switchable runtime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live vs offline, with a persistent badge; explicit live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without a key refuses to start — never a silent downgrade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F6F5B"/>
                </a:solidFill>
                <a:latin typeface="微软雅黑"/>
                <a:ea typeface="微软雅黑"/>
              </a:rPr>
              <a:t>Reuse boundary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core ported from the user's own earlier workspace (sha256 recorded);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3D layout references FeiControl (MIT) without copying code/assets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F6F5B"/>
                </a:solidFill>
                <a:latin typeface="微软雅黑"/>
                <a:ea typeface="微软雅黑"/>
              </a:rPr>
              <a:t>Not claimed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not one-click full-length generation; not cinematic 3D;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fact checking is a graded advisory, not infallible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2F6F5B"/>
                </a:solidFill>
                <a:latin typeface="微软雅黑"/>
                <a:ea typeface="微软雅黑"/>
              </a:rPr>
              <a:t>04  现场演示与下一步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B7770"/>
                </a:solidFill>
                <a:latin typeface="微软雅黑"/>
                <a:ea typeface="微软雅黑"/>
              </a:rPr>
              <a:t>Live demo, and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F6F5B"/>
                </a:solidFill>
                <a:latin typeface="微软雅黑"/>
                <a:ea typeface="微软雅黑"/>
              </a:rPr>
              <a:t>现场真跑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输一句想法 → 模型生成完整开场 → 确认建场景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推进一步 → 点事件看「提议→检查→结果」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→ 点道具看事实 → 改一句台词并锁定 → 加导演指令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→ 预览（正式状态不变）→ 提交 → 生成美术素材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→ 导出场次卡 / 剧本 / 分镜草稿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F6F5B"/>
                </a:solidFill>
                <a:latin typeface="微软雅黑"/>
                <a:ea typeface="微软雅黑"/>
              </a:rPr>
              <a:t>下一步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真模型长时稳定性与费用评估；image→3D 资产；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32B27"/>
                </a:solidFill>
                <a:latin typeface="微软雅黑"/>
                <a:ea typeface="微软雅黑"/>
              </a:rPr>
              <a:t>更多场景模板与多人协作</a:t>
            </a:r>
          </a:p>
          <a:p>
            <a:pPr>
              <a:spcAft>
                <a:spcPts val="800"/>
              </a:spcAft>
            </a:pPr>
            <a:r>
              <a:rPr sz="800" b="0">
                <a:solidFill>
                  <a:srgbClr val="232B27"/>
                </a:solidFill>
                <a:latin typeface="微软雅黑"/>
                <a:ea typeface="微软雅黑"/>
              </a:rPr>
              <a:t/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F6F5B"/>
                </a:solidFill>
                <a:latin typeface="微软雅黑"/>
                <a:ea typeface="微软雅黑"/>
              </a:rPr>
              <a:t>一句话：把最难观察和修改的角色互动，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F6F5B"/>
                </a:solidFill>
                <a:latin typeface="微软雅黑"/>
                <a:ea typeface="微软雅黑"/>
              </a:rPr>
              <a:t>变成看得见、能干预、可追溯的工作台。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2F6F5B"/>
                </a:solidFill>
                <a:latin typeface="微软雅黑"/>
                <a:ea typeface="微软雅黑"/>
              </a:rPr>
              <a:t>Live demo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create scene → step → inspect an event (proposal → check → result)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→ inspect a prop's facts → edit and lock a line → add a directive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→ preview (no state change) → commit → generate art assets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→ export scene card / script / storyboard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F6F5B"/>
                </a:solidFill>
                <a:latin typeface="微软雅黑"/>
                <a:ea typeface="微软雅黑"/>
              </a:rPr>
              <a:t>Next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long-run stability and cost of live mode; image-to-3D assets;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232B27"/>
                </a:solidFill>
                <a:latin typeface="微软雅黑"/>
                <a:ea typeface="微软雅黑"/>
              </a:rPr>
              <a:t>more scene templates and collaboration</a:t>
            </a:r>
          </a:p>
          <a:p>
            <a:pPr>
              <a:spcAft>
                <a:spcPts val="800"/>
              </a:spcAft>
            </a:pPr>
            <a:r>
              <a:rPr sz="800" b="0">
                <a:solidFill>
                  <a:srgbClr val="232B27"/>
                </a:solidFill>
                <a:latin typeface="微软雅黑"/>
                <a:ea typeface="微软雅黑"/>
              </a:rPr>
              <a:t/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2F6F5B"/>
                </a:solidFill>
                <a:latin typeface="微软雅黑"/>
                <a:ea typeface="微软雅黑"/>
              </a:rPr>
              <a:t>Make the hardest part of drama — how characters react to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2F6F5B"/>
                </a:solidFill>
                <a:latin typeface="微软雅黑"/>
                <a:ea typeface="微软雅黑"/>
              </a:rPr>
              <a:t>each other — visible, steerable and traceable.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