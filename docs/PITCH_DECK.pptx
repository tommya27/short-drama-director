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37f2cc8d06450e" /><Relationship Type="http://schemas.openxmlformats.org/officeDocument/2006/relationships/extended-properties" Target="/docProps/app.xml" Id="Ra77f83cc13bb4c22" /><Relationship Type="http://schemas.openxmlformats.org/officeDocument/2006/relationships/officeDocument" Target="/ppt/presentation.xml" Id="R2609326fadbf40a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44bcf186cf04271"/>
  </p:sldMasterIdLst>
  <p:notesMasterIdLst>
    <p:notesMasterId xmlns:r="http://schemas.openxmlformats.org/officeDocument/2006/relationships" r:id="R8404e0e872b24a0a"/>
  </p:notesMasterIdLst>
  <p:sldIdLst>
    <p:sldId xmlns:r="http://schemas.openxmlformats.org/officeDocument/2006/relationships" id="256" r:id="Rd9807941f91e4ce9"/>
    <p:sldId xmlns:r="http://schemas.openxmlformats.org/officeDocument/2006/relationships" id="257" r:id="R73d55b0d4de94094"/>
    <p:sldId xmlns:r="http://schemas.openxmlformats.org/officeDocument/2006/relationships" id="258" r:id="Rfcebe6bb817b4320"/>
    <p:sldId xmlns:r="http://schemas.openxmlformats.org/officeDocument/2006/relationships" id="259" r:id="R18b993b35ff4453d"/>
    <p:sldId xmlns:r="http://schemas.openxmlformats.org/officeDocument/2006/relationships" id="260" r:id="Rb9db14f4b32f4a8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3e39430b2c04997" /><Relationship Type="http://schemas.openxmlformats.org/officeDocument/2006/relationships/slideMaster" Target="/ppt/slideMasters/slideMaster1.xml" Id="R344bcf186cf04271" /><Relationship Type="http://schemas.openxmlformats.org/officeDocument/2006/relationships/notesMaster" Target="/ppt/notesMasters/notesMaster1.xml" Id="R8404e0e872b24a0a" /><Relationship Type="http://schemas.openxmlformats.org/officeDocument/2006/relationships/presProps" Target="/ppt/presProps.xml" Id="Rb965558319de4ec9" /><Relationship Type="http://schemas.openxmlformats.org/officeDocument/2006/relationships/tableStyles" Target="/ppt/tableStyles.xml" Id="R6f12729f006f4530" /><Relationship Type="http://schemas.openxmlformats.org/officeDocument/2006/relationships/slide" Target="/ppt/slides/slide1.xml" Id="Rd9807941f91e4ce9" /><Relationship Type="http://schemas.openxmlformats.org/officeDocument/2006/relationships/slide" Target="/ppt/slides/slide2.xml" Id="R73d55b0d4de94094" /><Relationship Type="http://schemas.openxmlformats.org/officeDocument/2006/relationships/slide" Target="/ppt/slides/slide3.xml" Id="Rfcebe6bb817b4320" /><Relationship Type="http://schemas.openxmlformats.org/officeDocument/2006/relationships/slide" Target="/ppt/slides/slide4.xml" Id="R18b993b35ff4453d" /><Relationship Type="http://schemas.openxmlformats.org/officeDocument/2006/relationships/slide" Target="/ppt/slides/slide5.xml" Id="Rb9db14f4b32f4a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e0c5844b85487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ced382f0b5744aa" /><Relationship Type="http://schemas.openxmlformats.org/officeDocument/2006/relationships/notesMaster" Target="/ppt/notesMasters/notesMaster1.xml" Id="Ra9cb683c6dbe4b3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24f4642b804cfd" /><Relationship Type="http://schemas.openxmlformats.org/officeDocument/2006/relationships/notesMaster" Target="/ppt/notesMasters/notesMaster1.xml" Id="R187d60834f1e4f8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823031e01842aa" /><Relationship Type="http://schemas.openxmlformats.org/officeDocument/2006/relationships/notesMaster" Target="/ppt/notesMasters/notesMaster1.xml" Id="R2d9c71194a8f44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cd4fd9b8174a4f" /><Relationship Type="http://schemas.openxmlformats.org/officeDocument/2006/relationships/notesMaster" Target="/ppt/notesMasters/notesMaster1.xml" Id="R3eff955f5017457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0dc0c6b377b4f16" /><Relationship Type="http://schemas.openxmlformats.org/officeDocument/2006/relationships/notesMaster" Target="/ppt/notesMasters/notesMaster1.xml" Id="Rfd10899d6aa442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0:00–0:20</a:t>
            </a:r>
          </a:p>
          <a:p xmlns:a="http://schemas.openxmlformats.org/drawingml/2006/main">
            <a:r>
              <a:t>我们是 AI 应用与工程赛道。一句话：让角色先演一遍，你来定稿。这是一个可干预的导演台：多个角色在同一个沙盘里行动，作者观察、插手、最后确认。右侧是工具生成的董事会会议室背板。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0:20–0:50</a:t>
            </a:r>
          </a:p>
          <a:p xmlns:a="http://schemas.openxmlformats.org/drawingml/2006/main">
            <a:r>
              <a:t>现有 AI 剧本工具给你一段文字，但你看不见角色为什么这么说，过程是黑盒。对短剧新手来说，冲突、信息差、道具和人物目标很容易互相打架；改好的台词也可能被下一次生成覆盖。我们的入口很具体：从一句话想法开始，帮助没有编剧训练的用户先完成一场可检查、可修改的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0:50–1:50</a:t>
            </a:r>
          </a:p>
          <a:p xmlns:a="http://schemas.openxmlformats.org/drawingml/2006/main">
            <a:r>
              <a:t>24 小时里最核心的是剧情结构层。以前多角色沙盘容易变成角色轮流说话；现在每场戏有一份契约，写清主角、对手、失败代价和必须发生的变化，再拆成五个节拍。每轮生成后，规则检查提示冲突、推进、信息变化、因果、压力、人物主动性、可拍性和结尾准备。除此之外，过程可见，作者能预览、锁定、干预和分支试演；模型、规则、素材和输出都标注来源；一句话还可以生成开场设定与舞台布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1:50–2:20</a:t>
            </a:r>
          </a:p>
          <a:p xmlns:a="http://schemas.openxmlformats.org/drawingml/2006/main">
            <a:r>
              <a:t>技术上，这是独立的 React、three.js、FastAPI 和 SQLite 平台。live 与 offline 模式会在界面上明确显示，显式 live 但没有密钥会拒绝启动，不会把规则演示伪装成模型结果。叙事内核来自用户自己的旧工作区，hash 和改写范围都有记录。3D 只参考 FeiControl 的状态驱动角色、舞台和镜头思路，没有复制它的代码或资产。我们也不把它说成一键生成整部作品，事实检查是作者辅助提示。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2:20–3:00</a:t>
            </a:r>
          </a:p>
          <a:p xmlns:a="http://schemas.openxmlformats.org/drawingml/2006/main">
            <a:r>
              <a:t>现场我会从一句话想法开始，确认契约、角色和舞台，推进一轮，看候选事件与剧情检查，改一句对白并锁定，再预览、提交、推进下一段，最后回放并整理成场次卡、剧本和分镜。下一步是评估真实模型的稳定性与成本，增加更多题材的场景路线，继续做 image-to-3D 资产和多人协作。我们做的不是替作者写完，而是把最难观察和修改的角色互动变成看得见、能干预、可追溯的工作台。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bd4d863328401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60beaf284374e1f" /><Relationship Type="http://schemas.openxmlformats.org/officeDocument/2006/relationships/slideLayout" Target="/ppt/slideLayouts/slideLayout1.xml" Id="R26ff3afc715d433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6ff3afc715d433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f2d0a0a997440a" /><Relationship Type="http://schemas.openxmlformats.org/officeDocument/2006/relationships/image" Target="/ppt/media/image.jpeg" Id="Re851db8e46e848a4" /><Relationship Type="http://schemas.openxmlformats.org/officeDocument/2006/relationships/notesSlide" Target="/ppt/notesSlides/notesSlide1.xml" Id="Rf10d571837fc42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876e86f2494cf7" /><Relationship Type="http://schemas.openxmlformats.org/officeDocument/2006/relationships/notesSlide" Target="/ppt/notesSlides/notesSlide2.xml" Id="R50f111d909bf48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aa218a16de4507" /><Relationship Type="http://schemas.openxmlformats.org/officeDocument/2006/relationships/notesSlide" Target="/ppt/notesSlides/notesSlide3.xml" Id="R659a7b4108e3450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4ab041b6754213" /><Relationship Type="http://schemas.openxmlformats.org/officeDocument/2006/relationships/notesSlide" Target="/ppt/notesSlides/notesSlide4.xml" Id="R95bf1b9333c9475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e8cefc0d8e4202" /><Relationship Type="http://schemas.openxmlformats.org/officeDocument/2006/relationships/notesSlide" Target="/ppt/notesSlides/notesSlide5.xml" Id="Rb526aef93312418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75188732-3E86-4389-A2C4-8F94D572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9600"/>
            <a:ext cx="609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BAYTECH 2026  /  AI 应用与工程赛道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F8DD92D-7F55-43EC-B914-66196A26C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75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可视化 AI 导演台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65A573BA-A372-4CA5-B5A7-03BFD28C3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让角色先演一遍，你来定稿</a:t>
            </a:r>
          </a:p>
        </p:txBody>
      </p:sp>
      <p:sp>
        <p:nvSpPr>
          <p:cNvPr id="4" name="cover-en">
            <a:extLst xmlns:a="http://schemas.openxmlformats.org/drawingml/2006/main">
              <a:ext uri="{FF2B5EF4-FFF2-40B4-BE49-F238E27FC236}">
                <a16:creationId xmlns:a16="http://schemas.microsoft.com/office/drawing/2014/main" id="{8131A8DD-55E6-403F-B724-E228406F3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619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A Visual Director's Desk for Short Drama</a:t>
            </a:r>
          </a:p>
          <a:p xmlns:a="http://schemas.openxmlformats.org/drawingml/2006/main">
            <a:pPr>
              <a:defRPr sz="12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Let the cast play the scene out. You decide.</a:t>
            </a:r>
          </a:p>
        </p:txBody>
      </p:sp>
      <p:sp>
        <p:nvSpPr>
          <p:cNvPr id="5" name="cover-rule">
            <a:extLst xmlns:a="http://schemas.openxmlformats.org/drawingml/2006/main">
              <a:ext uri="{FF2B5EF4-FFF2-40B4-BE49-F238E27FC236}">
                <a16:creationId xmlns:a16="http://schemas.microsoft.com/office/drawing/2014/main" id="{88434F86-F2F4-43BD-AD8A-9D1BEBBF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581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784F"/>
          </a:solidFill>
          <a:ln xmlns:a="http://schemas.openxmlformats.org/drawingml/2006/main" w="0">
            <a:solidFill>
              <a:srgbClr val="B2784F"/>
            </a:solidFill>
          </a:ln>
        </p:spPr>
      </p:sp>
      <p:sp>
        <p:nvSpPr>
          <p:cNvPr id="6" name="cover-one-line">
            <a:extLst xmlns:a="http://schemas.openxmlformats.org/drawingml/2006/main">
              <a:ext uri="{FF2B5EF4-FFF2-40B4-BE49-F238E27FC236}">
                <a16:creationId xmlns:a16="http://schemas.microsoft.com/office/drawing/2014/main" id="{61B41354-E767-4378-81AA-E0F9815A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609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多个角色在同一个沙盘里行动、交流、互相影响。</a:t>
            </a:r>
          </a:p>
          <a:p xmlns:a="http://schemas.openxmlformats.org/drawingml/2006/main">
            <a:pPr>
              <a:defRPr sz="1350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导演观察、干预、确认，再整理成剧本与分镜草稿。</a:t>
            </a:r>
          </a:p>
        </p:txBody>
      </p:sp>
      <p:sp>
        <p:nvSpPr>
          <p:cNvPr id="7" name="cover-one-line-en">
            <a:extLst xmlns:a="http://schemas.openxmlformats.org/drawingml/2006/main">
              <a:ext uri="{FF2B5EF4-FFF2-40B4-BE49-F238E27FC236}">
                <a16:creationId xmlns:a16="http://schemas.microsoft.com/office/drawing/2014/main" id="{64CC56E1-2DC8-45B9-B7F7-6B7B063B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0"/>
            <a:ext cx="619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Multiple characters act and influence one another in a shared sandbox.</a:t>
            </a:r>
          </a:p>
          <a:p xmlns:a="http://schemas.openxmlformats.org/drawingml/2006/main">
            <a:pPr>
              <a:defRPr sz="975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The director observes, intervenes and approves the scene.</a:t>
            </a:r>
          </a:p>
        </p:txBody>
      </p:sp>
      <p:sp>
        <p:nvSpPr>
          <p:cNvPr id="8" name="cover-tags">
            <a:extLst xmlns:a="http://schemas.openxmlformats.org/drawingml/2006/main">
              <a:ext uri="{FF2B5EF4-FFF2-40B4-BE49-F238E27FC236}">
                <a16:creationId xmlns:a16="http://schemas.microsoft.com/office/drawing/2014/main" id="{A26A8796-51AD-4D6B-B68E-82B7E2122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29250"/>
            <a:ext cx="628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多角色沙盘 / Multi-agent sandbox   事实透镜 / Fact lens   人工确认 / Human approval   2.5D / 3D 显现 / Visualization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51db8e46e848a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67625" y="819150"/>
            <a:ext cx="3667125" cy="3667125"/>
          </a:xfrm>
          <a:prstGeom xmlns:a="http://schemas.openxmlformats.org/drawingml/2006/main" prst="roundRect">
            <a:avLst>
              <a:gd name="adj" fmla="val 6234"/>
            </a:avLst>
          </a:prstGeom>
        </p:spPr>
      </p:pic>
      <p:sp>
        <p:nvSpPr>
          <p:cNvPr id="10" name="cover-image-caption">
            <a:extLst xmlns:a="http://schemas.openxmlformats.org/drawingml/2006/main">
              <a:ext uri="{FF2B5EF4-FFF2-40B4-BE49-F238E27FC236}">
                <a16:creationId xmlns:a16="http://schemas.microsoft.com/office/drawing/2014/main" id="{4E779C91-E6EC-4E01-940E-30B6284E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705350"/>
            <a:ext cx="3667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封面图：本工具生成的场景背板</a:t>
            </a:r>
          </a:p>
        </p:txBody>
      </p:sp>
      <p:sp>
        <p:nvSpPr>
          <p:cNvPr id="11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E3FB4431-1430-4B37-A21E-E2EC3837F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674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24 小时原型   ·   short-drama-director   ·   3 分钟演示</a:t>
            </a:r>
          </a:p>
        </p:txBody>
      </p:sp>
    </p:spTree>
    <p:extLst>
      <p:ext uri="{BB962C8B-B14F-4D97-AF65-F5344CB8AC3E}">
        <p14:creationId xmlns:p14="http://schemas.microsoft.com/office/powerpoint/2010/main" val="5100516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33432EBD-C869-48ED-BDE1-23CAA36B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" name="section-title-cn">
            <a:extLst xmlns:a="http://schemas.openxmlformats.org/drawingml/2006/main">
              <a:ext uri="{FF2B5EF4-FFF2-40B4-BE49-F238E27FC236}">
                <a16:creationId xmlns:a16="http://schemas.microsoft.com/office/drawing/2014/main" id="{C1E25D9D-A8BC-4557-B2F1-DBEF04BF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5275"/>
            <a:ext cx="581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问题与场景价值</a:t>
            </a:r>
          </a:p>
        </p:txBody>
      </p:sp>
      <p:sp>
        <p:nvSpPr>
          <p:cNvPr id="3" name="section-title-en">
            <a:extLst xmlns:a="http://schemas.openxmlformats.org/drawingml/2006/main">
              <a:ext uri="{FF2B5EF4-FFF2-40B4-BE49-F238E27FC236}">
                <a16:creationId xmlns:a16="http://schemas.microsoft.com/office/drawing/2014/main" id="{C51F1910-5BCB-468A-BA35-922567A6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7810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The problem and the value of a scene-first workflow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06B64D2-D129-42D7-8637-46051C612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8110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C8"/>
          </a:solidFill>
          <a:ln xmlns:a="http://schemas.openxmlformats.org/drawingml/2006/main" w="0">
            <a:solidFill>
              <a:srgbClr val="C8D0C8"/>
            </a:solidFill>
          </a:ln>
        </p:spPr>
      </p:sp>
      <p:sp>
        <p:nvSpPr>
          <p:cNvPr id="5" name="problem-cn">
            <a:extLst xmlns:a="http://schemas.openxmlformats.org/drawingml/2006/main">
              <a:ext uri="{FF2B5EF4-FFF2-40B4-BE49-F238E27FC236}">
                <a16:creationId xmlns:a16="http://schemas.microsoft.com/office/drawing/2014/main" id="{B127E3E4-DA85-4C5E-84F9-2EFE4D7BB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写戏时，用户缺的是过程</a:t>
            </a:r>
          </a:p>
        </p:txBody>
      </p:sp>
      <p:sp>
        <p:nvSpPr>
          <p:cNvPr id="6" name="problem-en">
            <a:extLst xmlns:a="http://schemas.openxmlformats.org/drawingml/2006/main">
              <a:ext uri="{FF2B5EF4-FFF2-40B4-BE49-F238E27FC236}">
                <a16:creationId xmlns:a16="http://schemas.microsoft.com/office/drawing/2014/main" id="{C414DC94-D916-4AD0-829B-DB6157FD0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Writers need to see the process, not only the text</a:t>
            </a:r>
          </a:p>
        </p:txBody>
      </p:sp>
      <p:sp>
        <p:nvSpPr>
          <p:cNvPr id="7" name="problem-cn-0">
            <a:extLst xmlns:a="http://schemas.openxmlformats.org/drawingml/2006/main">
              <a:ext uri="{FF2B5EF4-FFF2-40B4-BE49-F238E27FC236}">
                <a16:creationId xmlns:a16="http://schemas.microsoft.com/office/drawing/2014/main" id="{8314EA99-27E7-44A6-B2EC-4546189DD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5095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AI 给出一段对白，却没有解释角色为什么这样说。</a:t>
            </a:r>
          </a:p>
        </p:txBody>
      </p:sp>
      <p:sp>
        <p:nvSpPr>
          <p:cNvPr id="8" name="problem-cn-1">
            <a:extLst xmlns:a="http://schemas.openxmlformats.org/drawingml/2006/main">
              <a:ext uri="{FF2B5EF4-FFF2-40B4-BE49-F238E27FC236}">
                <a16:creationId xmlns:a16="http://schemas.microsoft.com/office/drawing/2014/main" id="{AC3EC73D-2F4D-4B18-BD5A-CA5623F4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47950"/>
            <a:ext cx="5095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新手很难同时守住冲突、信息差、道具和人物目标。</a:t>
            </a:r>
          </a:p>
        </p:txBody>
      </p:sp>
      <p:sp>
        <p:nvSpPr>
          <p:cNvPr id="9" name="problem-cn-2">
            <a:extLst xmlns:a="http://schemas.openxmlformats.org/drawingml/2006/main">
              <a:ext uri="{FF2B5EF4-FFF2-40B4-BE49-F238E27FC236}">
                <a16:creationId xmlns:a16="http://schemas.microsoft.com/office/drawing/2014/main" id="{AEF23409-20A7-4D48-8D1E-59BB369F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5095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改一处台词，下一次生成可能覆盖已有决定。</a:t>
            </a:r>
          </a:p>
        </p:txBody>
      </p:sp>
      <p:sp>
        <p:nvSpPr>
          <p:cNvPr id="10" name="problem-divider">
            <a:extLst xmlns:a="http://schemas.openxmlformats.org/drawingml/2006/main">
              <a:ext uri="{FF2B5EF4-FFF2-40B4-BE49-F238E27FC236}">
                <a16:creationId xmlns:a16="http://schemas.microsoft.com/office/drawing/2014/main" id="{A4E0BC18-7D60-453C-9981-6368DD60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04950"/>
            <a:ext cx="19050" cy="436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C8"/>
          </a:solidFill>
          <a:ln xmlns:a="http://schemas.openxmlformats.org/drawingml/2006/main" w="0">
            <a:solidFill>
              <a:srgbClr val="C8D0C8"/>
            </a:solidFill>
          </a:ln>
        </p:spPr>
      </p:sp>
      <p:sp>
        <p:nvSpPr>
          <p:cNvPr id="11" name="value-cn">
            <a:extLst xmlns:a="http://schemas.openxmlformats.org/drawingml/2006/main">
              <a:ext uri="{FF2B5EF4-FFF2-40B4-BE49-F238E27FC236}">
                <a16:creationId xmlns:a16="http://schemas.microsoft.com/office/drawing/2014/main" id="{A9E3A16A-9DFD-47A2-972F-D77BB458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049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我们先帮助用户写成一场戏</a:t>
            </a:r>
          </a:p>
        </p:txBody>
      </p:sp>
      <p:sp>
        <p:nvSpPr>
          <p:cNvPr id="12" name="value-en">
            <a:extLst xmlns:a="http://schemas.openxmlformats.org/drawingml/2006/main">
              <a:ext uri="{FF2B5EF4-FFF2-40B4-BE49-F238E27FC236}">
                <a16:creationId xmlns:a16="http://schemas.microsoft.com/office/drawing/2014/main" id="{C3B28060-8909-494F-BD98-2F0AB0D3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097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We help a beginner finish one playable scene</a:t>
            </a:r>
          </a:p>
        </p:txBody>
      </p:sp>
      <p:sp>
        <p:nvSpPr>
          <p:cNvPr id="13" name="value-en-0">
            <a:extLst xmlns:a="http://schemas.openxmlformats.org/drawingml/2006/main">
              <a:ext uri="{FF2B5EF4-FFF2-40B4-BE49-F238E27FC236}">
                <a16:creationId xmlns:a16="http://schemas.microsoft.com/office/drawing/2014/main" id="{4364E7F6-135B-4F7E-A19C-1F2D63BD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907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Start with one premise. The system asks for characters, place, goals and secrets.</a:t>
            </a:r>
          </a:p>
        </p:txBody>
      </p:sp>
      <p:sp>
        <p:nvSpPr>
          <p:cNvPr id="14" name="value-en-1">
            <a:extLst xmlns:a="http://schemas.openxmlformats.org/drawingml/2006/main">
              <a:ext uri="{FF2B5EF4-FFF2-40B4-BE49-F238E27FC236}">
                <a16:creationId xmlns:a16="http://schemas.microsoft.com/office/drawing/2014/main" id="{016A9A6A-5E15-429C-B672-028AF19BE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7652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Characters act in a shared sandbox. The director can inspect causes, effects and state changes.</a:t>
            </a:r>
          </a:p>
        </p:txBody>
      </p:sp>
      <p:sp>
        <p:nvSpPr>
          <p:cNvPr id="15" name="value-en-2">
            <a:extLst xmlns:a="http://schemas.openxmlformats.org/drawingml/2006/main">
              <a:ext uri="{FF2B5EF4-FFF2-40B4-BE49-F238E27FC236}">
                <a16:creationId xmlns:a16="http://schemas.microsoft.com/office/drawing/2014/main" id="{98222286-904A-4B8D-91B1-45949C14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623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Candidate story changes are previewed first. The author approves the formal version.</a:t>
            </a:r>
          </a:p>
        </p:txBody>
      </p:sp>
      <p:sp>
        <p:nvSpPr>
          <p:cNvPr id="16" name="target-cn">
            <a:extLst xmlns:a="http://schemas.openxmlformats.org/drawingml/2006/main">
              <a:ext uri="{FF2B5EF4-FFF2-40B4-BE49-F238E27FC236}">
                <a16:creationId xmlns:a16="http://schemas.microsoft.com/office/drawing/2014/main" id="{2CDB8CCF-4DB3-4660-97EB-D6BA11568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81625"/>
            <a:ext cx="5095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目标用户：短剧编剧、导演/制片、剧情号创作者，以及没有编剧训练但有故事想法的人</a:t>
            </a:r>
          </a:p>
        </p:txBody>
      </p:sp>
      <p:sp>
        <p:nvSpPr>
          <p:cNvPr id="17" name="target-en">
            <a:extLst xmlns:a="http://schemas.openxmlformats.org/drawingml/2006/main">
              <a:ext uri="{FF2B5EF4-FFF2-40B4-BE49-F238E27FC236}">
                <a16:creationId xmlns:a16="http://schemas.microsoft.com/office/drawing/2014/main" id="{63B1BA27-8E93-4C85-914C-9AF6DB3D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81625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Users: short-drama writers, directors and producers, scripted-video creators, and first-time storytellers.</a:t>
            </a:r>
          </a:p>
        </p:txBody>
      </p:sp>
    </p:spTree>
    <p:extLst>
      <p:ext uri="{BB962C8B-B14F-4D97-AF65-F5344CB8AC3E}">
        <p14:creationId xmlns:p14="http://schemas.microsoft.com/office/powerpoint/2010/main" val="18120680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5D503DC2-4EE6-4E3B-87A3-B4797C05F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" name="section-title-cn">
            <a:extLst xmlns:a="http://schemas.openxmlformats.org/drawingml/2006/main">
              <a:ext uri="{FF2B5EF4-FFF2-40B4-BE49-F238E27FC236}">
                <a16:creationId xmlns:a16="http://schemas.microsoft.com/office/drawing/2014/main" id="{314AE23B-5BDF-4096-9A89-84AE5898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5275"/>
            <a:ext cx="581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24 小时增量：剧情结构先跑通</a:t>
            </a:r>
          </a:p>
        </p:txBody>
      </p:sp>
      <p:sp>
        <p:nvSpPr>
          <p:cNvPr id="3" name="section-title-en">
            <a:extLst xmlns:a="http://schemas.openxmlformats.org/drawingml/2006/main">
              <a:ext uri="{FF2B5EF4-FFF2-40B4-BE49-F238E27FC236}">
                <a16:creationId xmlns:a16="http://schemas.microsoft.com/office/drawing/2014/main" id="{3CBC3498-9546-40DC-959F-D5CBD754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7810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What we built in the 24-hour sprint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75170539-FD68-4A6E-9C2E-9F4BF7D3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8110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C8"/>
          </a:solidFill>
          <a:ln xmlns:a="http://schemas.openxmlformats.org/drawingml/2006/main" w="0">
            <a:solidFill>
              <a:srgbClr val="C8D0C8"/>
            </a:solidFill>
          </a:ln>
        </p:spPr>
      </p:sp>
      <p:sp>
        <p:nvSpPr>
          <p:cNvPr id="5" name="increment-lead-cn">
            <a:extLst xmlns:a="http://schemas.openxmlformats.org/drawingml/2006/main">
              <a:ext uri="{FF2B5EF4-FFF2-40B4-BE49-F238E27FC236}">
                <a16:creationId xmlns:a16="http://schemas.microsoft.com/office/drawing/2014/main" id="{D80E5254-60EF-4F12-ADE7-FF37DDC2E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57325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核心增量：把 Agent 互动变成一场有结构的戏</a:t>
            </a:r>
          </a:p>
        </p:txBody>
      </p:sp>
      <p:sp>
        <p:nvSpPr>
          <p:cNvPr id="6" name="increment-lead-en">
            <a:extLst xmlns:a="http://schemas.openxmlformats.org/drawingml/2006/main">
              <a:ext uri="{FF2B5EF4-FFF2-40B4-BE49-F238E27FC236}">
                <a16:creationId xmlns:a16="http://schemas.microsoft.com/office/drawing/2014/main" id="{42B46EDD-C069-4840-B683-127D9ED9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57325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Core increment: turn agent interaction into a structured scene</a:t>
            </a:r>
          </a:p>
        </p:txBody>
      </p:sp>
      <p:sp>
        <p:nvSpPr>
          <p:cNvPr id="7" name="inc-cn-head-0">
            <a:extLst xmlns:a="http://schemas.openxmlformats.org/drawingml/2006/main">
              <a:ext uri="{FF2B5EF4-FFF2-40B4-BE49-F238E27FC236}">
                <a16:creationId xmlns:a16="http://schemas.microsoft.com/office/drawing/2014/main" id="{70F2DD16-5DB5-4297-BD92-9B7EF59A0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1  剧情结构层</a:t>
            </a:r>
          </a:p>
        </p:txBody>
      </p:sp>
      <p:sp>
        <p:nvSpPr>
          <p:cNvPr id="8" name="inc-cn-body-0">
            <a:extLst xmlns:a="http://schemas.openxmlformats.org/drawingml/2006/main">
              <a:ext uri="{FF2B5EF4-FFF2-40B4-BE49-F238E27FC236}">
                <a16:creationId xmlns:a16="http://schemas.microsoft.com/office/drawing/2014/main" id="{A5F661C8-4671-4C38-97D2-CAF31A53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本场契约、5 个剧情节拍、8 项规则检查。</a:t>
            </a:r>
          </a:p>
        </p:txBody>
      </p:sp>
      <p:sp>
        <p:nvSpPr>
          <p:cNvPr id="9" name="inc-en-head-0">
            <a:extLst xmlns:a="http://schemas.openxmlformats.org/drawingml/2006/main">
              <a:ext uri="{FF2B5EF4-FFF2-40B4-BE49-F238E27FC236}">
                <a16:creationId xmlns:a16="http://schemas.microsoft.com/office/drawing/2014/main" id="{501C7810-2D7D-4907-8523-567A539B0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1  Dramatic structure</a:t>
            </a:r>
          </a:p>
        </p:txBody>
      </p:sp>
      <p:sp>
        <p:nvSpPr>
          <p:cNvPr id="10" name="inc-en-body-0">
            <a:extLst xmlns:a="http://schemas.openxmlformats.org/drawingml/2006/main">
              <a:ext uri="{FF2B5EF4-FFF2-40B4-BE49-F238E27FC236}">
                <a16:creationId xmlns:a16="http://schemas.microsoft.com/office/drawing/2014/main" id="{466B1563-5795-49E6-810B-F80BADF78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A scene contract, five beats and eight rule-based checks.</a:t>
            </a:r>
          </a:p>
        </p:txBody>
      </p:sp>
      <p:sp>
        <p:nvSpPr>
          <p:cNvPr id="11" name="inc-cn-head-1">
            <a:extLst xmlns:a="http://schemas.openxmlformats.org/drawingml/2006/main">
              <a:ext uri="{FF2B5EF4-FFF2-40B4-BE49-F238E27FC236}">
                <a16:creationId xmlns:a16="http://schemas.microsoft.com/office/drawing/2014/main" id="{356626C8-E338-4781-A984-136BDF7B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2  过程可见</a:t>
            </a:r>
          </a:p>
        </p:txBody>
      </p:sp>
      <p:sp>
        <p:nvSpPr>
          <p:cNvPr id="12" name="inc-cn-body-1">
            <a:extLst xmlns:a="http://schemas.openxmlformats.org/drawingml/2006/main">
              <a:ext uri="{FF2B5EF4-FFF2-40B4-BE49-F238E27FC236}">
                <a16:creationId xmlns:a16="http://schemas.microsoft.com/office/drawing/2014/main" id="{6EE473A1-B480-4BEC-84DC-8BA76FC3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420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点事件看提议、事实检查、最终动作和状态变化。</a:t>
            </a:r>
          </a:p>
        </p:txBody>
      </p:sp>
      <p:sp>
        <p:nvSpPr>
          <p:cNvPr id="13" name="inc-en-head-1">
            <a:extLst xmlns:a="http://schemas.openxmlformats.org/drawingml/2006/main">
              <a:ext uri="{FF2B5EF4-FFF2-40B4-BE49-F238E27FC236}">
                <a16:creationId xmlns:a16="http://schemas.microsoft.com/office/drawing/2014/main" id="{0D7B1171-0A07-4DAB-A0B9-0301C6C4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38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2  Visible process</a:t>
            </a:r>
          </a:p>
        </p:txBody>
      </p:sp>
      <p:sp>
        <p:nvSpPr>
          <p:cNvPr id="14" name="inc-en-body-1">
            <a:extLst xmlns:a="http://schemas.openxmlformats.org/drawingml/2006/main">
              <a:ext uri="{FF2B5EF4-FFF2-40B4-BE49-F238E27FC236}">
                <a16:creationId xmlns:a16="http://schemas.microsoft.com/office/drawing/2014/main" id="{1677B782-0755-4AD0-9129-71522C456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2420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Inspect proposal, fact checks, final action and state change.</a:t>
            </a:r>
          </a:p>
        </p:txBody>
      </p:sp>
      <p:sp>
        <p:nvSpPr>
          <p:cNvPr id="15" name="inc-cn-head-2">
            <a:extLst xmlns:a="http://schemas.openxmlformats.org/drawingml/2006/main">
              <a:ext uri="{FF2B5EF4-FFF2-40B4-BE49-F238E27FC236}">
                <a16:creationId xmlns:a16="http://schemas.microsoft.com/office/drawing/2014/main" id="{02637458-4C9B-4BA3-8313-0679E3B3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3  作者掌控</a:t>
            </a:r>
          </a:p>
        </p:txBody>
      </p:sp>
      <p:sp>
        <p:nvSpPr>
          <p:cNvPr id="16" name="inc-cn-body-2">
            <a:extLst xmlns:a="http://schemas.openxmlformats.org/drawingml/2006/main">
              <a:ext uri="{FF2B5EF4-FFF2-40B4-BE49-F238E27FC236}">
                <a16:creationId xmlns:a16="http://schemas.microsoft.com/office/drawing/2014/main" id="{21141A41-A290-4344-9083-E81A18CB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6715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预览、锁定、导演指令、分支试演，作者推进节拍。</a:t>
            </a:r>
          </a:p>
        </p:txBody>
      </p:sp>
      <p:sp>
        <p:nvSpPr>
          <p:cNvPr id="17" name="inc-en-head-2">
            <a:extLst xmlns:a="http://schemas.openxmlformats.org/drawingml/2006/main">
              <a:ext uri="{FF2B5EF4-FFF2-40B4-BE49-F238E27FC236}">
                <a16:creationId xmlns:a16="http://schemas.microsoft.com/office/drawing/2014/main" id="{6C0155CF-81D5-43C9-B3FE-6596F3EC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81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3  Author control</a:t>
            </a:r>
          </a:p>
        </p:txBody>
      </p:sp>
      <p:sp>
        <p:nvSpPr>
          <p:cNvPr id="18" name="inc-en-body-2">
            <a:extLst xmlns:a="http://schemas.openxmlformats.org/drawingml/2006/main">
              <a:ext uri="{FF2B5EF4-FFF2-40B4-BE49-F238E27FC236}">
                <a16:creationId xmlns:a16="http://schemas.microsoft.com/office/drawing/2014/main" id="{FCC01E2B-DCDC-49EF-809A-8E8FAA37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6715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Preview, lock, direct, branch and advance beats by choice.</a:t>
            </a:r>
          </a:p>
        </p:txBody>
      </p:sp>
      <p:sp>
        <p:nvSpPr>
          <p:cNvPr id="19" name="inc-cn-head-3">
            <a:extLst xmlns:a="http://schemas.openxmlformats.org/drawingml/2006/main">
              <a:ext uri="{FF2B5EF4-FFF2-40B4-BE49-F238E27FC236}">
                <a16:creationId xmlns:a16="http://schemas.microsoft.com/office/drawing/2014/main" id="{2761A1FA-030E-425D-85C6-2F24C5AB5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243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4  来源诚实</a:t>
            </a:r>
          </a:p>
        </p:txBody>
      </p:sp>
      <p:sp>
        <p:nvSpPr>
          <p:cNvPr id="20" name="inc-cn-body-3">
            <a:extLst xmlns:a="http://schemas.openxmlformats.org/drawingml/2006/main">
              <a:ext uri="{FF2B5EF4-FFF2-40B4-BE49-F238E27FC236}">
                <a16:creationId xmlns:a16="http://schemas.microsoft.com/office/drawing/2014/main" id="{B6FA79B3-2211-4BF7-AEDF-03F49151C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角色事件标注 live/offline；素材、输出和润色保留来源。</a:t>
            </a:r>
          </a:p>
        </p:txBody>
      </p:sp>
      <p:sp>
        <p:nvSpPr>
          <p:cNvPr id="21" name="inc-en-head-3">
            <a:extLst xmlns:a="http://schemas.openxmlformats.org/drawingml/2006/main">
              <a:ext uri="{FF2B5EF4-FFF2-40B4-BE49-F238E27FC236}">
                <a16:creationId xmlns:a16="http://schemas.microsoft.com/office/drawing/2014/main" id="{A89175B7-1FF8-490B-87E5-067EFA21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243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4  Honest provenance</a:t>
            </a:r>
          </a:p>
        </p:txBody>
      </p:sp>
      <p:sp>
        <p:nvSpPr>
          <p:cNvPr id="22" name="inc-en-body-3">
            <a:extLst xmlns:a="http://schemas.openxmlformats.org/drawingml/2006/main">
              <a:ext uri="{FF2B5EF4-FFF2-40B4-BE49-F238E27FC236}">
                <a16:creationId xmlns:a16="http://schemas.microsoft.com/office/drawing/2014/main" id="{456692E0-7D42-4056-81E6-588A7EA4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1010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Label live/offline events, assets, outputs and polish.</a:t>
            </a:r>
          </a:p>
        </p:txBody>
      </p:sp>
      <p:sp>
        <p:nvSpPr>
          <p:cNvPr id="23" name="inc-cn-head-4">
            <a:extLst xmlns:a="http://schemas.openxmlformats.org/drawingml/2006/main">
              <a:ext uri="{FF2B5EF4-FFF2-40B4-BE49-F238E27FC236}">
                <a16:creationId xmlns:a16="http://schemas.microsoft.com/office/drawing/2014/main" id="{6CA644EA-2EFC-446C-9545-98E7345A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673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5  一句话开场</a:t>
            </a:r>
          </a:p>
        </p:txBody>
      </p:sp>
      <p:sp>
        <p:nvSpPr>
          <p:cNvPr id="24" name="inc-cn-body-4">
            <a:extLst xmlns:a="http://schemas.openxmlformats.org/drawingml/2006/main">
              <a:ext uri="{FF2B5EF4-FFF2-40B4-BE49-F238E27FC236}">
                <a16:creationId xmlns:a16="http://schemas.microsoft.com/office/drawing/2014/main" id="{FCAD06F1-FE09-4207-A10F-91177902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5305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角色、道具、事实和舞台布局一起生成，场景随题材适配。</a:t>
            </a:r>
          </a:p>
        </p:txBody>
      </p:sp>
      <p:sp>
        <p:nvSpPr>
          <p:cNvPr id="25" name="inc-en-head-4">
            <a:extLst xmlns:a="http://schemas.openxmlformats.org/drawingml/2006/main">
              <a:ext uri="{FF2B5EF4-FFF2-40B4-BE49-F238E27FC236}">
                <a16:creationId xmlns:a16="http://schemas.microsoft.com/office/drawing/2014/main" id="{FA348468-068A-4E03-9C5D-8DB6FDCF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673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5  One-line opening</a:t>
            </a:r>
          </a:p>
        </p:txBody>
      </p:sp>
      <p:sp>
        <p:nvSpPr>
          <p:cNvPr id="26" name="inc-en-body-4">
            <a:extLst xmlns:a="http://schemas.openxmlformats.org/drawingml/2006/main">
              <a:ext uri="{FF2B5EF4-FFF2-40B4-BE49-F238E27FC236}">
                <a16:creationId xmlns:a16="http://schemas.microsoft.com/office/drawing/2014/main" id="{85776CB4-2B62-425B-9ED5-D493777D1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5305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Cast, props, facts and stage layout adapt to the premise.</a:t>
            </a:r>
          </a:p>
        </p:txBody>
      </p:sp>
    </p:spTree>
    <p:extLst>
      <p:ext uri="{BB962C8B-B14F-4D97-AF65-F5344CB8AC3E}">
        <p14:creationId xmlns:p14="http://schemas.microsoft.com/office/powerpoint/2010/main" val="437183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B6AB1ED9-8AF4-4830-B4B0-2FA5D9420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" name="section-title-cn">
            <a:extLst xmlns:a="http://schemas.openxmlformats.org/drawingml/2006/main">
              <a:ext uri="{FF2B5EF4-FFF2-40B4-BE49-F238E27FC236}">
                <a16:creationId xmlns:a16="http://schemas.microsoft.com/office/drawing/2014/main" id="{68101306-EBF8-495F-93F1-F97C9F117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5275"/>
            <a:ext cx="581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技术与边界</a:t>
            </a:r>
          </a:p>
        </p:txBody>
      </p:sp>
      <p:sp>
        <p:nvSpPr>
          <p:cNvPr id="3" name="section-title-en">
            <a:extLst xmlns:a="http://schemas.openxmlformats.org/drawingml/2006/main">
              <a:ext uri="{FF2B5EF4-FFF2-40B4-BE49-F238E27FC236}">
                <a16:creationId xmlns:a16="http://schemas.microsoft.com/office/drawing/2014/main" id="{786607CF-AE8C-42D2-8823-E3796047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7810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Stack and honest boundaries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A7A43159-5290-4704-A4FA-8D1D9D1D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8110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C8"/>
          </a:solidFill>
          <a:ln xmlns:a="http://schemas.openxmlformats.org/drawingml/2006/main" w="0">
            <a:solidFill>
              <a:srgbClr val="C8D0C8"/>
            </a:solidFill>
          </a:ln>
        </p:spPr>
      </p:sp>
      <p:sp>
        <p:nvSpPr>
          <p:cNvPr id="5" name="stack-cn">
            <a:extLst xmlns:a="http://schemas.openxmlformats.org/drawingml/2006/main">
              <a:ext uri="{FF2B5EF4-FFF2-40B4-BE49-F238E27FC236}">
                <a16:creationId xmlns:a16="http://schemas.microsoft.com/office/drawing/2014/main" id="{26AFE3F7-0A62-4612-9226-975FD7AE9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独立平台</a:t>
            </a:r>
          </a:p>
        </p:txBody>
      </p:sp>
      <p:sp>
        <p:nvSpPr>
          <p:cNvPr id="6" name="stack-en">
            <a:extLst xmlns:a="http://schemas.openxmlformats.org/drawingml/2006/main">
              <a:ext uri="{FF2B5EF4-FFF2-40B4-BE49-F238E27FC236}">
                <a16:creationId xmlns:a16="http://schemas.microsoft.com/office/drawing/2014/main" id="{3229FE43-3B8F-4553-B0E4-ED0F75406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Standalone platform</a:t>
            </a:r>
          </a:p>
        </p:txBody>
      </p:sp>
      <p:sp>
        <p:nvSpPr>
          <p:cNvPr id="7" name="stack-cn-0">
            <a:extLst xmlns:a="http://schemas.openxmlformats.org/drawingml/2006/main">
              <a:ext uri="{FF2B5EF4-FFF2-40B4-BE49-F238E27FC236}">
                <a16:creationId xmlns:a16="http://schemas.microsoft.com/office/drawing/2014/main" id="{26252EB8-982B-4421-85E1-3FF5F1FF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React + TypeScript + three.js：导演台与 2.5D / 3D 舞台</a:t>
            </a:r>
          </a:p>
        </p:txBody>
      </p:sp>
      <p:sp>
        <p:nvSpPr>
          <p:cNvPr id="8" name="stack-cn-1">
            <a:extLst xmlns:a="http://schemas.openxmlformats.org/drawingml/2006/main">
              <a:ext uri="{FF2B5EF4-FFF2-40B4-BE49-F238E27FC236}">
                <a16:creationId xmlns:a16="http://schemas.microsoft.com/office/drawing/2014/main" id="{3FDA1789-F35B-4C19-8EE3-75518014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00325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FastAPI + SQLite：共享世界状态、版本、分支与审计</a:t>
            </a:r>
          </a:p>
        </p:txBody>
      </p:sp>
      <p:sp>
        <p:nvSpPr>
          <p:cNvPr id="9" name="stack-cn-2">
            <a:extLst xmlns:a="http://schemas.openxmlformats.org/drawingml/2006/main">
              <a:ext uri="{FF2B5EF4-FFF2-40B4-BE49-F238E27FC236}">
                <a16:creationId xmlns:a16="http://schemas.microsoft.com/office/drawing/2014/main" id="{727D86D8-AE75-44CD-9238-C5C5EA39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OpenAI 兼容模型：角色候选、开场规划和作者主动润色</a:t>
            </a:r>
          </a:p>
        </p:txBody>
      </p:sp>
      <p:sp>
        <p:nvSpPr>
          <p:cNvPr id="10" name="stack-cn-3">
            <a:extLst xmlns:a="http://schemas.openxmlformats.org/drawingml/2006/main">
              <a:ext uri="{FF2B5EF4-FFF2-40B4-BE49-F238E27FC236}">
                <a16:creationId xmlns:a16="http://schemas.microsoft.com/office/drawing/2014/main" id="{DA3124A8-D34A-4321-9420-05A832A4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19475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Seedream：场景背板与角色立绘，作为视觉层保存来源信息</a:t>
            </a:r>
          </a:p>
        </p:txBody>
      </p:sp>
      <p:sp>
        <p:nvSpPr>
          <p:cNvPr id="11" name="tech-divider">
            <a:extLst xmlns:a="http://schemas.openxmlformats.org/drawingml/2006/main">
              <a:ext uri="{FF2B5EF4-FFF2-40B4-BE49-F238E27FC236}">
                <a16:creationId xmlns:a16="http://schemas.microsoft.com/office/drawing/2014/main" id="{46B79C07-252D-45A4-82C6-AFF976706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90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C8"/>
          </a:solidFill>
          <a:ln xmlns:a="http://schemas.openxmlformats.org/drawingml/2006/main" w="0">
            <a:solidFill>
              <a:srgbClr val="C8D0C8"/>
            </a:solidFill>
          </a:ln>
        </p:spPr>
      </p:sp>
      <p:sp>
        <p:nvSpPr>
          <p:cNvPr id="12" name="boundaries-cn">
            <a:extLst xmlns:a="http://schemas.openxmlformats.org/drawingml/2006/main">
              <a:ext uri="{FF2B5EF4-FFF2-40B4-BE49-F238E27FC236}">
                <a16:creationId xmlns:a16="http://schemas.microsoft.com/office/drawing/2014/main" id="{09157325-D2C5-48CA-B0BE-DDD48DF5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240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诚实边界</a:t>
            </a:r>
          </a:p>
        </p:txBody>
      </p:sp>
      <p:sp>
        <p:nvSpPr>
          <p:cNvPr id="13" name="boundaries-en">
            <a:extLst xmlns:a="http://schemas.openxmlformats.org/drawingml/2006/main">
              <a:ext uri="{FF2B5EF4-FFF2-40B4-BE49-F238E27FC236}">
                <a16:creationId xmlns:a16="http://schemas.microsoft.com/office/drawing/2014/main" id="{879A01C6-3510-4DF8-BD19-D51D90F5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28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What the prototype does not claim</a:t>
            </a:r>
          </a:p>
        </p:txBody>
      </p:sp>
      <p:sp>
        <p:nvSpPr>
          <p:cNvPr id="14" name="boundary-en-0">
            <a:extLst xmlns:a="http://schemas.openxmlformats.org/drawingml/2006/main">
              <a:ext uri="{FF2B5EF4-FFF2-40B4-BE49-F238E27FC236}">
                <a16:creationId xmlns:a16="http://schemas.microsoft.com/office/drawing/2014/main" id="{00492553-428E-40E3-89EE-416AB0B9E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907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The live/offline mode is visible. Explicit live without a key refuses to start.</a:t>
            </a:r>
          </a:p>
        </p:txBody>
      </p:sp>
      <p:sp>
        <p:nvSpPr>
          <p:cNvPr id="15" name="boundary-en-1">
            <a:extLst xmlns:a="http://schemas.openxmlformats.org/drawingml/2006/main">
              <a:ext uri="{FF2B5EF4-FFF2-40B4-BE49-F238E27FC236}">
                <a16:creationId xmlns:a16="http://schemas.microsoft.com/office/drawing/2014/main" id="{893329EF-AE44-40E7-A89C-904C9CD8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289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The reused narrative core is the user’s own. Source hashes and edits are recorded.</a:t>
            </a:r>
          </a:p>
        </p:txBody>
      </p:sp>
      <p:sp>
        <p:nvSpPr>
          <p:cNvPr id="16" name="boundary-en-2">
            <a:extLst xmlns:a="http://schemas.openxmlformats.org/drawingml/2006/main">
              <a:ext uri="{FF2B5EF4-FFF2-40B4-BE49-F238E27FC236}">
                <a16:creationId xmlns:a16="http://schemas.microsoft.com/office/drawing/2014/main" id="{E286FCEE-2665-40BF-A391-648BF382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67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3D interaction references FeiControl (MIT). No code or assets were copied.</a:t>
            </a:r>
          </a:p>
        </p:txBody>
      </p:sp>
      <p:sp>
        <p:nvSpPr>
          <p:cNvPr id="17" name="boundary-en-3">
            <a:extLst xmlns:a="http://schemas.openxmlformats.org/drawingml/2006/main">
              <a:ext uri="{FF2B5EF4-FFF2-40B4-BE49-F238E27FC236}">
                <a16:creationId xmlns:a16="http://schemas.microsoft.com/office/drawing/2014/main" id="{5DC3C209-B075-4C30-BF0F-8B5CA48A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052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This is not one-click full-length generation. The 3D is not cinematic, and checks are advisory.</a:t>
            </a:r>
          </a:p>
        </p:txBody>
      </p:sp>
      <p:sp>
        <p:nvSpPr>
          <p:cNvPr id="18" name="boundary-en-note">
            <a:extLst xmlns:a="http://schemas.openxmlformats.org/drawingml/2006/main">
              <a:ext uri="{FF2B5EF4-FFF2-40B4-BE49-F238E27FC236}">
                <a16:creationId xmlns:a16="http://schemas.microsoft.com/office/drawing/2014/main" id="{C6A8BF36-A9D3-4B2E-9AD5-59A9BEFBB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5816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The platform records provenance for the core, model calls, generated assets and outputs.</a:t>
            </a:r>
          </a:p>
        </p:txBody>
      </p:sp>
    </p:spTree>
    <p:extLst>
      <p:ext uri="{BB962C8B-B14F-4D97-AF65-F5344CB8AC3E}">
        <p14:creationId xmlns:p14="http://schemas.microsoft.com/office/powerpoint/2010/main" val="19843146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DD34397E-2A80-495B-8034-60C42EAC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" name="section-title-cn">
            <a:extLst xmlns:a="http://schemas.openxmlformats.org/drawingml/2006/main">
              <a:ext uri="{FF2B5EF4-FFF2-40B4-BE49-F238E27FC236}">
                <a16:creationId xmlns:a16="http://schemas.microsoft.com/office/drawing/2014/main" id="{B6DE9118-C584-44C7-8641-3F8A529D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5275"/>
            <a:ext cx="581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现场演示与下一步</a:t>
            </a:r>
          </a:p>
        </p:txBody>
      </p:sp>
      <p:sp>
        <p:nvSpPr>
          <p:cNvPr id="3" name="section-title-en">
            <a:extLst xmlns:a="http://schemas.openxmlformats.org/drawingml/2006/main">
              <a:ext uri="{FF2B5EF4-FFF2-40B4-BE49-F238E27FC236}">
                <a16:creationId xmlns:a16="http://schemas.microsoft.com/office/drawing/2014/main" id="{31BAAEE2-E816-4A3C-B54D-041DE5889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7810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Live demo and next steps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E8CD0BC-B29E-44F3-AED6-EF97DCFB7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8110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C8"/>
          </a:solidFill>
          <a:ln xmlns:a="http://schemas.openxmlformats.org/drawingml/2006/main" w="0">
            <a:solidFill>
              <a:srgbClr val="C8D0C8"/>
            </a:solidFill>
          </a:ln>
        </p:spPr>
      </p:sp>
      <p:sp>
        <p:nvSpPr>
          <p:cNvPr id="5" name="demo-cn">
            <a:extLst xmlns:a="http://schemas.openxmlformats.org/drawingml/2006/main">
              <a:ext uri="{FF2B5EF4-FFF2-40B4-BE49-F238E27FC236}">
                <a16:creationId xmlns:a16="http://schemas.microsoft.com/office/drawing/2014/main" id="{E9CC92B8-2691-491A-9A58-52366464A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现场演示路径</a:t>
            </a:r>
          </a:p>
        </p:txBody>
      </p:sp>
      <p:sp>
        <p:nvSpPr>
          <p:cNvPr id="6" name="demo-en">
            <a:extLst xmlns:a="http://schemas.openxmlformats.org/drawingml/2006/main">
              <a:ext uri="{FF2B5EF4-FFF2-40B4-BE49-F238E27FC236}">
                <a16:creationId xmlns:a16="http://schemas.microsoft.com/office/drawing/2014/main" id="{DF7A7B85-3893-4FEB-BF97-F63C5E35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Live demo path</a:t>
            </a:r>
          </a:p>
        </p:txBody>
      </p:sp>
      <p:sp>
        <p:nvSpPr>
          <p:cNvPr id="7" name="demo-num-01">
            <a:extLst xmlns:a="http://schemas.openxmlformats.org/drawingml/2006/main">
              <a:ext uri="{FF2B5EF4-FFF2-40B4-BE49-F238E27FC236}">
                <a16:creationId xmlns:a16="http://schemas.microsoft.com/office/drawing/2014/main" id="{0C8A003F-A89E-45C3-A58C-A2751B6B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336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278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2784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demo-cn-01">
            <a:extLst xmlns:a="http://schemas.openxmlformats.org/drawingml/2006/main">
              <a:ext uri="{FF2B5EF4-FFF2-40B4-BE49-F238E27FC236}">
                <a16:creationId xmlns:a16="http://schemas.microsoft.com/office/drawing/2014/main" id="{8D494C60-F759-47A8-B0A9-8880A5E2E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336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输入一句话想法</a:t>
            </a:r>
          </a:p>
        </p:txBody>
      </p:sp>
      <p:sp>
        <p:nvSpPr>
          <p:cNvPr id="9" name="demo-en-01">
            <a:extLst xmlns:a="http://schemas.openxmlformats.org/drawingml/2006/main">
              <a:ext uri="{FF2B5EF4-FFF2-40B4-BE49-F238E27FC236}">
                <a16:creationId xmlns:a16="http://schemas.microsoft.com/office/drawing/2014/main" id="{29D476EC-432F-4862-9831-3BE3DB41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62175"/>
            <a:ext cx="152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Premise</a:t>
            </a:r>
          </a:p>
        </p:txBody>
      </p:sp>
      <p:sp>
        <p:nvSpPr>
          <p:cNvPr id="10" name="demo-num-02">
            <a:extLst xmlns:a="http://schemas.openxmlformats.org/drawingml/2006/main">
              <a:ext uri="{FF2B5EF4-FFF2-40B4-BE49-F238E27FC236}">
                <a16:creationId xmlns:a16="http://schemas.microsoft.com/office/drawing/2014/main" id="{802B7B23-F0D6-45E1-A430-E25A08AB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4795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278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2784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demo-cn-02">
            <a:extLst xmlns:a="http://schemas.openxmlformats.org/drawingml/2006/main">
              <a:ext uri="{FF2B5EF4-FFF2-40B4-BE49-F238E27FC236}">
                <a16:creationId xmlns:a16="http://schemas.microsoft.com/office/drawing/2014/main" id="{05C25EF5-514D-4B08-8D31-B0FEA910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479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确认契约、角色与舞台</a:t>
            </a:r>
          </a:p>
        </p:txBody>
      </p:sp>
      <p:sp>
        <p:nvSpPr>
          <p:cNvPr id="12" name="demo-en-02">
            <a:extLst xmlns:a="http://schemas.openxmlformats.org/drawingml/2006/main">
              <a:ext uri="{FF2B5EF4-FFF2-40B4-BE49-F238E27FC236}">
                <a16:creationId xmlns:a16="http://schemas.microsoft.com/office/drawing/2014/main" id="{A32234D5-6D7D-4971-A193-B555DD8E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76525"/>
            <a:ext cx="152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Scene setup</a:t>
            </a:r>
          </a:p>
        </p:txBody>
      </p:sp>
      <p:sp>
        <p:nvSpPr>
          <p:cNvPr id="13" name="demo-num-03">
            <a:extLst xmlns:a="http://schemas.openxmlformats.org/drawingml/2006/main">
              <a:ext uri="{FF2B5EF4-FFF2-40B4-BE49-F238E27FC236}">
                <a16:creationId xmlns:a16="http://schemas.microsoft.com/office/drawing/2014/main" id="{DB3761CB-FB83-401D-9DD3-CCE45860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278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2784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demo-cn-03">
            <a:extLst xmlns:a="http://schemas.openxmlformats.org/drawingml/2006/main">
              <a:ext uri="{FF2B5EF4-FFF2-40B4-BE49-F238E27FC236}">
                <a16:creationId xmlns:a16="http://schemas.microsoft.com/office/drawing/2014/main" id="{9A152E9D-A673-4D66-8F2C-9B914BB9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62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推进一轮，检查候选事件</a:t>
            </a:r>
          </a:p>
        </p:txBody>
      </p:sp>
      <p:sp>
        <p:nvSpPr>
          <p:cNvPr id="15" name="demo-en-03">
            <a:extLst xmlns:a="http://schemas.openxmlformats.org/drawingml/2006/main">
              <a:ext uri="{FF2B5EF4-FFF2-40B4-BE49-F238E27FC236}">
                <a16:creationId xmlns:a16="http://schemas.microsoft.com/office/drawing/2014/main" id="{41CCA58F-DD02-4CCC-8355-CAA9F12C1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90875"/>
            <a:ext cx="152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One agent round</a:t>
            </a:r>
          </a:p>
        </p:txBody>
      </p:sp>
      <p:sp>
        <p:nvSpPr>
          <p:cNvPr id="16" name="demo-num-04">
            <a:extLst xmlns:a="http://schemas.openxmlformats.org/drawingml/2006/main">
              <a:ext uri="{FF2B5EF4-FFF2-40B4-BE49-F238E27FC236}">
                <a16:creationId xmlns:a16="http://schemas.microsoft.com/office/drawing/2014/main" id="{B5A36077-3C96-4AFA-A475-7C70EB67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7665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278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2784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7" name="demo-cn-04">
            <a:extLst xmlns:a="http://schemas.openxmlformats.org/drawingml/2006/main">
              <a:ext uri="{FF2B5EF4-FFF2-40B4-BE49-F238E27FC236}">
                <a16:creationId xmlns:a16="http://schemas.microsoft.com/office/drawing/2014/main" id="{F8866276-E752-4334-8739-12C813B0F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766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修改对白、锁定、预览</a:t>
            </a:r>
          </a:p>
        </p:txBody>
      </p:sp>
      <p:sp>
        <p:nvSpPr>
          <p:cNvPr id="18" name="demo-en-04">
            <a:extLst xmlns:a="http://schemas.openxmlformats.org/drawingml/2006/main">
              <a:ext uri="{FF2B5EF4-FFF2-40B4-BE49-F238E27FC236}">
                <a16:creationId xmlns:a16="http://schemas.microsoft.com/office/drawing/2014/main" id="{15E01CD5-D2C8-40AE-AE4E-2A2A44A40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705225"/>
            <a:ext cx="152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Edit and preview</a:t>
            </a:r>
          </a:p>
        </p:txBody>
      </p:sp>
      <p:sp>
        <p:nvSpPr>
          <p:cNvPr id="19" name="demo-num-05">
            <a:extLst xmlns:a="http://schemas.openxmlformats.org/drawingml/2006/main">
              <a:ext uri="{FF2B5EF4-FFF2-40B4-BE49-F238E27FC236}">
                <a16:creationId xmlns:a16="http://schemas.microsoft.com/office/drawing/2014/main" id="{81A6BD0F-3770-49B3-A141-A27380D91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278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2784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0" name="demo-cn-05">
            <a:extLst xmlns:a="http://schemas.openxmlformats.org/drawingml/2006/main">
              <a:ext uri="{FF2B5EF4-FFF2-40B4-BE49-F238E27FC236}">
                <a16:creationId xmlns:a16="http://schemas.microsoft.com/office/drawing/2014/main" id="{7C6A37DE-CA04-4EC5-A117-C8CA3B1A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910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提交、推进节拍、回放</a:t>
            </a:r>
          </a:p>
        </p:txBody>
      </p:sp>
      <p:sp>
        <p:nvSpPr>
          <p:cNvPr id="21" name="demo-en-05">
            <a:extLst xmlns:a="http://schemas.openxmlformats.org/drawingml/2006/main">
              <a:ext uri="{FF2B5EF4-FFF2-40B4-BE49-F238E27FC236}">
                <a16:creationId xmlns:a16="http://schemas.microsoft.com/office/drawing/2014/main" id="{14A1687A-5CE6-4A83-BC71-62D860DFF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219575"/>
            <a:ext cx="152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Commit and replay</a:t>
            </a:r>
          </a:p>
        </p:txBody>
      </p:sp>
      <p:sp>
        <p:nvSpPr>
          <p:cNvPr id="22" name="demo-num-06">
            <a:extLst xmlns:a="http://schemas.openxmlformats.org/drawingml/2006/main">
              <a:ext uri="{FF2B5EF4-FFF2-40B4-BE49-F238E27FC236}">
                <a16:creationId xmlns:a16="http://schemas.microsoft.com/office/drawing/2014/main" id="{D0F36003-005A-4D57-849A-899A905D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0535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278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2784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3" name="demo-cn-06">
            <a:extLst xmlns:a="http://schemas.openxmlformats.org/drawingml/2006/main">
              <a:ext uri="{FF2B5EF4-FFF2-40B4-BE49-F238E27FC236}">
                <a16:creationId xmlns:a16="http://schemas.microsoft.com/office/drawing/2014/main" id="{23E15CD4-1745-4920-BF7A-B8C9BD7D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053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整理场次卡、剧本、分镜</a:t>
            </a:r>
          </a:p>
        </p:txBody>
      </p:sp>
      <p:sp>
        <p:nvSpPr>
          <p:cNvPr id="24" name="demo-en-06">
            <a:extLst xmlns:a="http://schemas.openxmlformats.org/drawingml/2006/main">
              <a:ext uri="{FF2B5EF4-FFF2-40B4-BE49-F238E27FC236}">
                <a16:creationId xmlns:a16="http://schemas.microsoft.com/office/drawing/2014/main" id="{7B9136A1-8902-41C1-8702-7D519E8A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733925"/>
            <a:ext cx="152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Export outputs</a:t>
            </a:r>
          </a:p>
        </p:txBody>
      </p:sp>
      <p:sp>
        <p:nvSpPr>
          <p:cNvPr id="25" name="demo-divider">
            <a:extLst xmlns:a="http://schemas.openxmlformats.org/drawingml/2006/main">
              <a:ext uri="{FF2B5EF4-FFF2-40B4-BE49-F238E27FC236}">
                <a16:creationId xmlns:a16="http://schemas.microsoft.com/office/drawing/2014/main" id="{28AD8372-5ABE-4205-AD3F-0AB5EB2A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504950"/>
            <a:ext cx="190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0C8"/>
          </a:solidFill>
          <a:ln xmlns:a="http://schemas.openxmlformats.org/drawingml/2006/main" w="0">
            <a:solidFill>
              <a:srgbClr val="C8D0C8"/>
            </a:solidFill>
          </a:ln>
        </p:spPr>
      </p:sp>
      <p:sp>
        <p:nvSpPr>
          <p:cNvPr id="26" name="next-cn">
            <a:extLst xmlns:a="http://schemas.openxmlformats.org/drawingml/2006/main">
              <a:ext uri="{FF2B5EF4-FFF2-40B4-BE49-F238E27FC236}">
                <a16:creationId xmlns:a16="http://schemas.microsoft.com/office/drawing/2014/main" id="{AB5A85AF-5EEC-4A0F-A819-410DB9C02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5049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下一步</a:t>
            </a:r>
          </a:p>
        </p:txBody>
      </p:sp>
      <p:sp>
        <p:nvSpPr>
          <p:cNvPr id="27" name="next-en">
            <a:extLst xmlns:a="http://schemas.openxmlformats.org/drawingml/2006/main">
              <a:ext uri="{FF2B5EF4-FFF2-40B4-BE49-F238E27FC236}">
                <a16:creationId xmlns:a16="http://schemas.microsoft.com/office/drawing/2014/main" id="{623C79F0-9D76-47B0-B7A0-DA94E644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Next</a:t>
            </a:r>
          </a:p>
        </p:txBody>
      </p:sp>
      <p:sp>
        <p:nvSpPr>
          <p:cNvPr id="28" name="next-lines-en-0">
            <a:extLst xmlns:a="http://schemas.openxmlformats.org/drawingml/2006/main">
              <a:ext uri="{FF2B5EF4-FFF2-40B4-BE49-F238E27FC236}">
                <a16:creationId xmlns:a16="http://schemas.microsoft.com/office/drawing/2014/main" id="{B0A2D8D3-0CEC-45CA-9B3D-DA3A06B9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190750"/>
            <a:ext cx="428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Evaluate long-run stability and cost for live models.</a:t>
            </a:r>
          </a:p>
        </p:txBody>
      </p:sp>
      <p:sp>
        <p:nvSpPr>
          <p:cNvPr id="29" name="next-lines-en-1">
            <a:extLst xmlns:a="http://schemas.openxmlformats.org/drawingml/2006/main">
              <a:ext uri="{FF2B5EF4-FFF2-40B4-BE49-F238E27FC236}">
                <a16:creationId xmlns:a16="http://schemas.microsoft.com/office/drawing/2014/main" id="{54FCA7B5-DC07-4609-806C-24E8A2FC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686050"/>
            <a:ext cx="428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Add scene manifests and walkable routes for more genres.</a:t>
            </a:r>
          </a:p>
        </p:txBody>
      </p:sp>
      <p:sp>
        <p:nvSpPr>
          <p:cNvPr id="30" name="next-lines-en-2">
            <a:extLst xmlns:a="http://schemas.openxmlformats.org/drawingml/2006/main">
              <a:ext uri="{FF2B5EF4-FFF2-40B4-BE49-F238E27FC236}">
                <a16:creationId xmlns:a16="http://schemas.microsoft.com/office/drawing/2014/main" id="{B5513CAA-6D29-424D-BCBD-3AA6CAB69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81350"/>
            <a:ext cx="428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3302B"/>
                </a:solidFill>
                <a:latin typeface="Microsoft YaHei"/>
                <a:ea typeface="Microsoft YaHei"/>
                <a:cs typeface="Microsoft YaHei"/>
              </a:rPr>
              <a:t>Explore image-to-3D assets and multi-user collaboration.</a:t>
            </a:r>
          </a:p>
        </p:txBody>
      </p:sp>
      <p:sp>
        <p:nvSpPr>
          <p:cNvPr id="31" name="closing-rule">
            <a:extLst xmlns:a="http://schemas.openxmlformats.org/drawingml/2006/main">
              <a:ext uri="{FF2B5EF4-FFF2-40B4-BE49-F238E27FC236}">
                <a16:creationId xmlns:a16="http://schemas.microsoft.com/office/drawing/2014/main" id="{1DE1AE7F-8623-45C3-ABF7-82490805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552950"/>
            <a:ext cx="3714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784F"/>
          </a:solidFill>
          <a:ln xmlns:a="http://schemas.openxmlformats.org/drawingml/2006/main" w="0">
            <a:solidFill>
              <a:srgbClr val="B2784F"/>
            </a:solidFill>
          </a:ln>
        </p:spPr>
      </p:sp>
      <p:sp>
        <p:nvSpPr>
          <p:cNvPr id="32" name="closing-cn">
            <a:extLst xmlns:a="http://schemas.openxmlformats.org/drawingml/2006/main">
              <a:ext uri="{FF2B5EF4-FFF2-40B4-BE49-F238E27FC236}">
                <a16:creationId xmlns:a16="http://schemas.microsoft.com/office/drawing/2014/main" id="{E9DC6DA6-BC1A-4405-A3C3-3004EAA3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905375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把最难观察和修改的角色互动，</a:t>
            </a:r>
          </a:p>
          <a:p xmlns:a="http://schemas.openxmlformats.org/drawingml/2006/main">
            <a:pPr>
              <a:defRPr sz="135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705D"/>
                </a:solidFill>
                <a:latin typeface="Microsoft YaHei"/>
                <a:ea typeface="Microsoft YaHei"/>
                <a:cs typeface="Microsoft YaHei"/>
              </a:rPr>
              <a:t>变成看得见、能干预、可追溯的工作台。</a:t>
            </a:r>
          </a:p>
        </p:txBody>
      </p:sp>
      <p:sp>
        <p:nvSpPr>
          <p:cNvPr id="33" name="closing-en">
            <a:extLst xmlns:a="http://schemas.openxmlformats.org/drawingml/2006/main">
              <a:ext uri="{FF2B5EF4-FFF2-40B4-BE49-F238E27FC236}">
                <a16:creationId xmlns:a16="http://schemas.microsoft.com/office/drawing/2014/main" id="{EC467C86-967A-4D1E-906D-70ABA593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7150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8736D"/>
                </a:solidFill>
                <a:latin typeface="Microsoft YaHei"/>
                <a:ea typeface="Microsoft YaHei"/>
                <a:cs typeface="Microsoft YaHei"/>
              </a:rPr>
              <a:t>Make character interaction visible, steerable and traceable.</a:t>
            </a:r>
          </a:p>
        </p:txBody>
      </p:sp>
    </p:spTree>
    <p:extLst>
      <p:ext uri="{BB962C8B-B14F-4D97-AF65-F5344CB8AC3E}">
        <p14:creationId xmlns:p14="http://schemas.microsoft.com/office/powerpoint/2010/main" val="7987304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2026-09-20T06:47:49.3520000Z</dcterms:created>
  <dcterms:modified xsi:type="dcterms:W3CDTF">2026-09-20T06:47:49.3530000Z</dcterms:modified>
</coreProperties>
</file>